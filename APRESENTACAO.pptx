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58c349abc94d0f" /><Relationship Type="http://schemas.openxmlformats.org/officeDocument/2006/relationships/extended-properties" Target="/docProps/app.xml" Id="R216171dd13c64296" /><Relationship Type="http://schemas.openxmlformats.org/officeDocument/2006/relationships/officeDocument" Target="/ppt/presentation.xml" Id="R79905ebab47e48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185226e3cf4b6c"/>
  </p:sldMasterIdLst>
  <p:notesMasterIdLst>
    <p:notesMasterId xmlns:r="http://schemas.openxmlformats.org/officeDocument/2006/relationships" r:id="Rf8078d2111ef4443"/>
  </p:notesMasterIdLst>
  <p:sldIdLst>
    <p:sldId xmlns:r="http://schemas.openxmlformats.org/officeDocument/2006/relationships" id="256" r:id="R5c59362647584f6d"/>
    <p:sldId xmlns:r="http://schemas.openxmlformats.org/officeDocument/2006/relationships" id="257" r:id="Rbf21babb82554aa8"/>
    <p:sldId xmlns:r="http://schemas.openxmlformats.org/officeDocument/2006/relationships" id="258" r:id="R8f6c65557fd84d7b"/>
    <p:sldId xmlns:r="http://schemas.openxmlformats.org/officeDocument/2006/relationships" id="259" r:id="R4a9514fca9b94ef1"/>
    <p:sldId xmlns:r="http://schemas.openxmlformats.org/officeDocument/2006/relationships" id="260" r:id="R0e7e11103c8d4b7f"/>
    <p:sldId xmlns:r="http://schemas.openxmlformats.org/officeDocument/2006/relationships" id="261" r:id="R8595f5fd3595407a"/>
    <p:sldId xmlns:r="http://schemas.openxmlformats.org/officeDocument/2006/relationships" id="262" r:id="R117d0f381c3e46d7"/>
    <p:sldId xmlns:r="http://schemas.openxmlformats.org/officeDocument/2006/relationships" id="263" r:id="R25565886fb7e44b4"/>
    <p:sldId xmlns:r="http://schemas.openxmlformats.org/officeDocument/2006/relationships" id="264" r:id="R9cf7ae6cf80347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a9a374f32340c4" /><Relationship Type="http://schemas.openxmlformats.org/officeDocument/2006/relationships/slideMaster" Target="/ppt/slideMasters/slideMaster1.xml" Id="R5c185226e3cf4b6c" /><Relationship Type="http://schemas.openxmlformats.org/officeDocument/2006/relationships/notesMaster" Target="/ppt/notesMasters/notesMaster1.xml" Id="Rf8078d2111ef4443" /><Relationship Type="http://schemas.openxmlformats.org/officeDocument/2006/relationships/presProps" Target="/ppt/presProps.xml" Id="R3f11340613d04a09" /><Relationship Type="http://schemas.openxmlformats.org/officeDocument/2006/relationships/tableStyles" Target="/ppt/tableStyles.xml" Id="R21001dcbd9ad4292" /><Relationship Type="http://schemas.openxmlformats.org/officeDocument/2006/relationships/slide" Target="/ppt/slides/slide1.xml" Id="R5c59362647584f6d" /><Relationship Type="http://schemas.openxmlformats.org/officeDocument/2006/relationships/slide" Target="/ppt/slides/slide2.xml" Id="Rbf21babb82554aa8" /><Relationship Type="http://schemas.openxmlformats.org/officeDocument/2006/relationships/slide" Target="/ppt/slides/slide3.xml" Id="R8f6c65557fd84d7b" /><Relationship Type="http://schemas.openxmlformats.org/officeDocument/2006/relationships/slide" Target="/ppt/slides/slide4.xml" Id="R4a9514fca9b94ef1" /><Relationship Type="http://schemas.openxmlformats.org/officeDocument/2006/relationships/slide" Target="/ppt/slides/slide5.xml" Id="R0e7e11103c8d4b7f" /><Relationship Type="http://schemas.openxmlformats.org/officeDocument/2006/relationships/slide" Target="/ppt/slides/slide6.xml" Id="R8595f5fd3595407a" /><Relationship Type="http://schemas.openxmlformats.org/officeDocument/2006/relationships/slide" Target="/ppt/slides/slide7.xml" Id="R117d0f381c3e46d7" /><Relationship Type="http://schemas.openxmlformats.org/officeDocument/2006/relationships/slide" Target="/ppt/slides/slide8.xml" Id="R25565886fb7e44b4" /><Relationship Type="http://schemas.openxmlformats.org/officeDocument/2006/relationships/slide" Target="/ppt/slides/slide9.xml" Id="R9cf7ae6cf80347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80d1f078a74a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2011280d644614" /><Relationship Type="http://schemas.openxmlformats.org/officeDocument/2006/relationships/notesMaster" Target="/ppt/notesMasters/notesMaster1.xml" Id="R51eec782319d4e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665fc7d9e54e71" /><Relationship Type="http://schemas.openxmlformats.org/officeDocument/2006/relationships/notesMaster" Target="/ppt/notesMasters/notesMaster1.xml" Id="R7600a307888941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6e24aac7f047e0" /><Relationship Type="http://schemas.openxmlformats.org/officeDocument/2006/relationships/notesMaster" Target="/ppt/notesMasters/notesMaster1.xml" Id="R19eb0ec27df64a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143a06cd534e72" /><Relationship Type="http://schemas.openxmlformats.org/officeDocument/2006/relationships/notesMaster" Target="/ppt/notesMasters/notesMaster1.xml" Id="R1763f2db780c4e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734066b8e34a4c" /><Relationship Type="http://schemas.openxmlformats.org/officeDocument/2006/relationships/notesMaster" Target="/ppt/notesMasters/notesMaster1.xml" Id="Rcea26fe568ab49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27f815bce841cf" /><Relationship Type="http://schemas.openxmlformats.org/officeDocument/2006/relationships/notesMaster" Target="/ppt/notesMasters/notesMaster1.xml" Id="R234eb066603a49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6ca2ae301a4379" /><Relationship Type="http://schemas.openxmlformats.org/officeDocument/2006/relationships/notesMaster" Target="/ppt/notesMasters/notesMaster1.xml" Id="Radac0c250c5345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b8fba7f15f4cbd" /><Relationship Type="http://schemas.openxmlformats.org/officeDocument/2006/relationships/notesMaster" Target="/ppt/notesMasters/notesMaster1.xml" Id="R36ba8162d5e346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e179f7ef474e74" /><Relationship Type="http://schemas.openxmlformats.org/officeDocument/2006/relationships/notesMaster" Target="/ppt/notesMasters/notesMaster1.xml" Id="R14db8b777bf048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equipe, tema e recorte: totalidade dos 100 fornecedores do TPC-H SF=0,01. Apresentação em 17/11/2026, 21h40 às 21h50.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Bárbara, 0:00 a 2:00, com a capa. Pergunta: como se distribuem os fornecedores cadastrados por regiões e países? A participação usa o total de fornecedores do mesmo recorte como denominador. O indicador apoia o planejamento de suprimentos.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Henrique, 2:00 a 4:00, com a ETL. Grão: um fornecedor cadastrado. Dimensões: fornecedor e geografia. Medida: quantidade igual a 1. Relacionamentos: supplier.s_nationkey=nation.n_nationkey e nation.n_regionkey=region.r_regionkey. Embedding incorpora atributos pequenos usados juntos. Fonte: Aula 04, Diagrama TPCH e DB L02.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Henrique, até 4:00. Mostrar sql/01_extrair.sql e mongo/02_carregar.js. A extração usa snapshot consistente e a transformação preserva IDs e incorpora a geografia. Mostrar um documento com findOne(). Fonte: scripts do projeto e DB L03.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Joao Vitor, 4:00 a 6:00. Mostrar evidencias/execucao_validacao_mongosh.json: contagens 100/100, 25/25 e 5/5; nenhum fornecedor divergente e nenhum ID adicional. Indicadores por região e país correspondentes às consultas independentes MySQL.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Lucas, a partir de 6:00. Dados validados: Ásia 27%, África 21%, América 20%, Europa 20% e Oriente Médio 12%. São 15 pontos percentuais entre os extremos. Universo: 100 fornecedores do TPC-H SF=0,01. Fonte: evidencias/execucao_indicadores_mongosh.json.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Lucas. O gráfico inclui os seis países com pelo menos seis fornecedores, totalizando 40% dos 100 cadastros. A tabela completa tem 25 países. Estados Unidos representa 8/20 da América e Egito, 6/12 do Oriente Médio. Fonte: evidencias/execucao_indicadores_mongosh.json.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Lucas. Abrir o dashboard Redash e demonstrar o gráfico regional e a tabela por país. As duas consultas foram executadas e conferidas com MySQL e MongoDB, com 100 fornecedores, 25 países e cinco regiões. Mostrar Ásia com 27% e Oriente Médio com 12%. Fonte: evidencias/redash/validacao_redash.json e captura do dashboard. As consultas estão em consultas/redash.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Lucas, encerramento até 10:00. Investigar alternativas de suprimento conforme a necessidade operacional e detalhar a distribuição dentro das regiões. Capacidade, custo e prazo devem complementar a contagem antes de decidir compras. Resultados restritos ao recorte SF=0,01.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fcdc9250b742d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53166e733240a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55fd69d9b24ed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8a3d523df64c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a78c7e55d147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6444db10e645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0FAC25-9BA2-45A0-9530-1490ECF8B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8B7DA99-6BF6-45A6-9504-D2D0631B6D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4CB357A-D6A3-4CD2-9941-6655473A98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9CAC44-7E07-4166-B986-D0C249A99F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EB07B67-079F-4B2E-84E3-50F4C58C82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BB00B84-CA44-4C47-A06C-475567C369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C15718-F1B0-468B-887D-EC96786059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5B7BD39-BA0E-4D46-9414-BDCEA6E208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4D7522-A3C4-406D-A80A-9F305082C3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DB712E-09AC-45ED-8504-420906239D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806916f107445e" /><Relationship Type="http://schemas.openxmlformats.org/officeDocument/2006/relationships/slideLayout" Target="/ppt/slideLayouts/slideLayout1.xml" Id="R473cbb92aca7443a" /><Relationship Type="http://schemas.openxmlformats.org/officeDocument/2006/relationships/slideLayout" Target="/ppt/slideLayouts/slideLayout2.xml" Id="R9ec96210b3eb41c4" /><Relationship Type="http://schemas.openxmlformats.org/officeDocument/2006/relationships/slideLayout" Target="/ppt/slideLayouts/slideLayout3.xml" Id="R54e32fab7eca4c81" /><Relationship Type="http://schemas.openxmlformats.org/officeDocument/2006/relationships/slideLayout" Target="/ppt/slideLayouts/slideLayout4.xml" Id="R2cecd057d0d34f50" /><Relationship Type="http://schemas.openxmlformats.org/officeDocument/2006/relationships/slideLayout" Target="/ppt/slideLayouts/slideLayout5.xml" Id="Rb2a779713d244f4f" /><Relationship Type="http://schemas.openxmlformats.org/officeDocument/2006/relationships/slideLayout" Target="/ppt/slideLayouts/slideLayout6.xml" Id="Ree207f56b61847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3cbb92aca7443a"/>
    <p:sldLayoutId xmlns:r="http://schemas.openxmlformats.org/officeDocument/2006/relationships" id="2147483650" r:id="R9ec96210b3eb41c4"/>
    <p:sldLayoutId xmlns:r="http://schemas.openxmlformats.org/officeDocument/2006/relationships" id="2147483651" r:id="R54e32fab7eca4c81"/>
    <p:sldLayoutId xmlns:r="http://schemas.openxmlformats.org/officeDocument/2006/relationships" id="2147483652" r:id="R2cecd057d0d34f50"/>
    <p:sldLayoutId xmlns:r="http://schemas.openxmlformats.org/officeDocument/2006/relationships" id="2147483653" r:id="Rb2a779713d244f4f"/>
    <p:sldLayoutId xmlns:r="http://schemas.openxmlformats.org/officeDocument/2006/relationships" id="2147483654" r:id="Ree207f56b61847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08429477c54668" /><Relationship Type="http://schemas.openxmlformats.org/officeDocument/2006/relationships/notesSlide" Target="/ppt/notesSlides/notesSlide1.xml" Id="Reef137df595d45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9d540f400b4270" /><Relationship Type="http://schemas.openxmlformats.org/officeDocument/2006/relationships/notesSlide" Target="/ppt/notesSlides/notesSlide2.xml" Id="R7267ab9de08141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73133b4c9b4d02" /><Relationship Type="http://schemas.openxmlformats.org/officeDocument/2006/relationships/notesSlide" Target="/ppt/notesSlides/notesSlide3.xml" Id="R1f45415a881041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ed7d4b181a46e4" /><Relationship Type="http://schemas.openxmlformats.org/officeDocument/2006/relationships/notesSlide" Target="/ppt/notesSlides/notesSlide4.xml" Id="Rbcd674aafac148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fd1ad3769f4d46" /><Relationship Type="http://schemas.openxmlformats.org/officeDocument/2006/relationships/notesSlide" Target="/ppt/notesSlides/notesSlide5.xml" Id="R4e1ac39efe9f40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693529ec5940be" /><Relationship Type="http://schemas.openxmlformats.org/officeDocument/2006/relationships/chart" Target="/ppt/slides/charts/chart1.xml" Id="Ra290d046c62a4816" /><Relationship Type="http://schemas.openxmlformats.org/officeDocument/2006/relationships/notesSlide" Target="/ppt/notesSlides/notesSlide6.xml" Id="R3253eb708bb048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182fad927146d3" /><Relationship Type="http://schemas.openxmlformats.org/officeDocument/2006/relationships/chart" Target="/ppt/slides/charts/chart2.xml" Id="R8c0987e91bc449a2" /><Relationship Type="http://schemas.openxmlformats.org/officeDocument/2006/relationships/notesSlide" Target="/ppt/notesSlides/notesSlide7.xml" Id="R6fb3b50299ee46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0da23d5a51470c" /><Relationship Type="http://schemas.openxmlformats.org/officeDocument/2006/relationships/notesSlide" Target="/ppt/notesSlides/notesSlide8.xml" Id="R4f4d4dc1ed5a49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a7166d5b9843aa" /><Relationship Type="http://schemas.openxmlformats.org/officeDocument/2006/relationships/notesSlide" Target="/ppt/notesSlides/notesSlide9.xml" Id="R8d63d6a6ccd442d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Participação no cadastro</c:v>
          </c:tx>
          <c:spPr>
            <a:solidFill xmlns:a="http://schemas.openxmlformats.org/drawingml/2006/main">
              <a:srgbClr val="176B73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ASIA</c:v>
                </c:pt>
                <c:pt idx="1">
                  <c:v>AFRICA</c:v>
                </c:pt>
                <c:pt idx="2">
                  <c:v>AMERICA</c:v>
                </c:pt>
                <c:pt idx="3">
                  <c:v>EUROPE</c:v>
                </c:pt>
                <c:pt idx="4">
                  <c:v>MIDDLE EAST</c:v>
                </c:pt>
              </c:strCache>
            </c:str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0.27</c:v>
                </c:pt>
                <c:pt idx="1">
                  <c:v>0.21</c:v>
                </c:pt>
                <c:pt idx="2">
                  <c:v>0.2</c:v>
                </c:pt>
                <c:pt idx="3">
                  <c:v>0.2</c:v>
                </c:pt>
                <c:pt idx="4">
                  <c:v>0.12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35"/>
          <c:min val="0"/>
        </c:scaling>
        <c:delete val="0"/>
        <c:axPos val="b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1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Fornecedores</c:v>
          </c:tx>
          <c:spPr>
            <a:solidFill xmlns:a="http://schemas.openxmlformats.org/drawingml/2006/main">
              <a:srgbClr val="176B73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UNITED STATES</c:v>
                </c:pt>
                <c:pt idx="1">
                  <c:v>MOZAMBIQUE</c:v>
                </c:pt>
                <c:pt idx="2">
                  <c:v>CHINA</c:v>
                </c:pt>
                <c:pt idx="3">
                  <c:v>EGYPT</c:v>
                </c:pt>
                <c:pt idx="4">
                  <c:v>KENYA</c:v>
                </c:pt>
                <c:pt idx="5">
                  <c:v>VIETNAM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8</c:v>
                </c:pt>
                <c:pt idx="1">
                  <c:v>7</c:v>
                </c:pt>
                <c:pt idx="2">
                  <c:v>7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83BA8-A5C7-403A-90FB-40D89371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83547"/>
                </a:solidFill>
              </a:defRPr>
            </a:defPPr>
            <a:lvl1pPr>
              <a:defRPr sz="4200" b="1">
                <a:solidFill>
                  <a:srgbClr val="183547"/>
                </a:solidFill>
              </a:defRPr>
            </a:lvl1pPr>
            <a:lvl2pPr>
              <a:defRPr sz="4200" b="1">
                <a:solidFill>
                  <a:srgbClr val="183547"/>
                </a:solidFill>
              </a:defRPr>
            </a:lvl2pPr>
            <a:lvl3pPr>
              <a:defRPr sz="4200" b="1">
                <a:solidFill>
                  <a:srgbClr val="183547"/>
                </a:solidFill>
              </a:defRPr>
            </a:lvl3pPr>
            <a:lvl4pPr>
              <a:defRPr sz="4200" b="1">
                <a:solidFill>
                  <a:srgbClr val="183547"/>
                </a:solidFill>
              </a:defRPr>
            </a:lvl4pPr>
            <a:lvl5pPr>
              <a:defRPr sz="4200" b="1">
                <a:solidFill>
                  <a:srgbClr val="183547"/>
                </a:solidFill>
              </a:defRPr>
            </a:lvl5pPr>
            <a:lvl6pPr>
              <a:defRPr sz="4200" b="1">
                <a:solidFill>
                  <a:srgbClr val="183547"/>
                </a:solidFill>
              </a:defRPr>
            </a:lvl6pPr>
            <a:lvl7pPr>
              <a:defRPr sz="4200" b="1">
                <a:solidFill>
                  <a:srgbClr val="183547"/>
                </a:solidFill>
              </a:defRPr>
            </a:lvl7pPr>
            <a:lvl8pPr>
              <a:defRPr sz="4200" b="1">
                <a:solidFill>
                  <a:srgbClr val="183547"/>
                </a:solidFill>
              </a:defRPr>
            </a:lvl8pPr>
            <a:lvl9pPr>
              <a:defRPr sz="4200" b="1">
                <a:solidFill>
                  <a:srgbClr val="183547"/>
                </a:solidFill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83547"/>
                </a:solidFill>
              </a:defRPr>
            </a:pPr>
            <a:r>
              <a:rPr sz="4200" b="1">
                <a:solidFill>
                  <a:srgbClr val="183547"/>
                </a:solidFill>
              </a:rPr>
              <a:t>Distribuição geográfica</a:t>
            </a:r>
          </a:p>
          <a:p xmlns:a="http://schemas.openxmlformats.org/drawingml/2006/main">
            <a:pPr>
              <a:defRPr sz="4200" b="1">
                <a:solidFill>
                  <a:srgbClr val="183547"/>
                </a:solidFill>
              </a:defRPr>
            </a:pPr>
            <a:r>
              <a:rPr sz="4200" b="1">
                <a:solidFill>
                  <a:srgbClr val="183547"/>
                </a:solidFill>
              </a:rPr>
              <a:t>dos fornecedores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A131D-4DDB-4997-AE73-A8E477B1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76B73"/>
                </a:solidFill>
              </a:defRPr>
            </a:defPPr>
            <a:lvl1pPr>
              <a:defRPr sz="2400" b="0">
                <a:solidFill>
                  <a:srgbClr val="176B73"/>
                </a:solidFill>
              </a:defRPr>
            </a:lvl1pPr>
            <a:lvl2pPr>
              <a:defRPr sz="2400" b="0">
                <a:solidFill>
                  <a:srgbClr val="176B73"/>
                </a:solidFill>
              </a:defRPr>
            </a:lvl2pPr>
            <a:lvl3pPr>
              <a:defRPr sz="2400" b="0">
                <a:solidFill>
                  <a:srgbClr val="176B73"/>
                </a:solidFill>
              </a:defRPr>
            </a:lvl3pPr>
            <a:lvl4pPr>
              <a:defRPr sz="2400" b="0">
                <a:solidFill>
                  <a:srgbClr val="176B73"/>
                </a:solidFill>
              </a:defRPr>
            </a:lvl4pPr>
            <a:lvl5pPr>
              <a:defRPr sz="2400" b="0">
                <a:solidFill>
                  <a:srgbClr val="176B73"/>
                </a:solidFill>
              </a:defRPr>
            </a:lvl5pPr>
            <a:lvl6pPr>
              <a:defRPr sz="2400" b="0">
                <a:solidFill>
                  <a:srgbClr val="176B73"/>
                </a:solidFill>
              </a:defRPr>
            </a:lvl6pPr>
            <a:lvl7pPr>
              <a:defRPr sz="2400" b="0">
                <a:solidFill>
                  <a:srgbClr val="176B73"/>
                </a:solidFill>
              </a:defRPr>
            </a:lvl7pPr>
            <a:lvl8pPr>
              <a:defRPr sz="2400" b="0">
                <a:solidFill>
                  <a:srgbClr val="176B73"/>
                </a:solidFill>
              </a:defRPr>
            </a:lvl8pPr>
            <a:lvl9pPr>
              <a:defRPr sz="2400" b="0">
                <a:solidFill>
                  <a:srgbClr val="176B73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76B73"/>
                </a:solidFill>
              </a:defRPr>
            </a:pPr>
            <a:r>
              <a:rPr sz="2400" b="0">
                <a:solidFill>
                  <a:srgbClr val="176B73"/>
                </a:solidFill>
              </a:rPr>
              <a:t>Equipe 10 · Data Analytics e BI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972C5-A192-4F4F-83DA-A650D29D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06575"/>
                </a:solidFill>
              </a:defRPr>
            </a:defPPr>
            <a:lvl1pPr>
              <a:defRPr sz="1725" b="0">
                <a:solidFill>
                  <a:srgbClr val="506575"/>
                </a:solidFill>
              </a:defRPr>
            </a:lvl1pPr>
            <a:lvl2pPr>
              <a:defRPr sz="1725" b="0">
                <a:solidFill>
                  <a:srgbClr val="506575"/>
                </a:solidFill>
              </a:defRPr>
            </a:lvl2pPr>
            <a:lvl3pPr>
              <a:defRPr sz="1725" b="0">
                <a:solidFill>
                  <a:srgbClr val="506575"/>
                </a:solidFill>
              </a:defRPr>
            </a:lvl3pPr>
            <a:lvl4pPr>
              <a:defRPr sz="1725" b="0">
                <a:solidFill>
                  <a:srgbClr val="506575"/>
                </a:solidFill>
              </a:defRPr>
            </a:lvl4pPr>
            <a:lvl5pPr>
              <a:defRPr sz="1725" b="0">
                <a:solidFill>
                  <a:srgbClr val="506575"/>
                </a:solidFill>
              </a:defRPr>
            </a:lvl5pPr>
            <a:lvl6pPr>
              <a:defRPr sz="1725" b="0">
                <a:solidFill>
                  <a:srgbClr val="506575"/>
                </a:solidFill>
              </a:defRPr>
            </a:lvl6pPr>
            <a:lvl7pPr>
              <a:defRPr sz="1725" b="0">
                <a:solidFill>
                  <a:srgbClr val="506575"/>
                </a:solidFill>
              </a:defRPr>
            </a:lvl7pPr>
            <a:lvl8pPr>
              <a:defRPr sz="1725" b="0">
                <a:solidFill>
                  <a:srgbClr val="506575"/>
                </a:solidFill>
              </a:defRPr>
            </a:lvl8pPr>
            <a:lvl9pPr>
              <a:defRPr sz="1725" b="0">
                <a:solidFill>
                  <a:srgbClr val="506575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06575"/>
                </a:solidFill>
              </a:defRPr>
            </a:pPr>
            <a:r>
              <a:rPr sz="1725" b="0">
                <a:solidFill>
                  <a:srgbClr val="506575"/>
                </a:solidFill>
              </a:rPr>
              <a:t>Bárbara Tebaldi Franco</a:t>
            </a:r>
          </a:p>
          <a:p xmlns:a="http://schemas.openxmlformats.org/drawingml/2006/main">
            <a:pPr>
              <a:defRPr sz="1725" b="0">
                <a:solidFill>
                  <a:srgbClr val="506575"/>
                </a:solidFill>
              </a:defRPr>
            </a:pPr>
            <a:r>
              <a:rPr sz="1725" b="0">
                <a:solidFill>
                  <a:srgbClr val="506575"/>
                </a:solidFill>
              </a:rPr>
              <a:t>Henrique Dias de Carvalho Junior</a:t>
            </a:r>
          </a:p>
          <a:p xmlns:a="http://schemas.openxmlformats.org/drawingml/2006/main">
            <a:pPr>
              <a:defRPr sz="1725" b="0">
                <a:solidFill>
                  <a:srgbClr val="506575"/>
                </a:solidFill>
              </a:defRPr>
            </a:pPr>
            <a:r>
              <a:rPr sz="1725" b="0">
                <a:solidFill>
                  <a:srgbClr val="506575"/>
                </a:solidFill>
              </a:rPr>
              <a:t>Joao Vitor Lima Cecilio</a:t>
            </a:r>
          </a:p>
          <a:p xmlns:a="http://schemas.openxmlformats.org/drawingml/2006/main">
            <a:pPr>
              <a:defRPr sz="1725" b="0">
                <a:solidFill>
                  <a:srgbClr val="506575"/>
                </a:solidFill>
              </a:defRPr>
            </a:pPr>
            <a:r>
              <a:rPr sz="1725" b="0">
                <a:solidFill>
                  <a:srgbClr val="506575"/>
                </a:solidFill>
              </a:rPr>
              <a:t>Lucas Andrzejewski de Lima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3EC9A-8F68-464D-A30C-BC7D7046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06575"/>
                </a:solidFill>
              </a:defRPr>
            </a:defPPr>
            <a:lvl1pPr>
              <a:defRPr sz="1800" b="0">
                <a:solidFill>
                  <a:srgbClr val="506575"/>
                </a:solidFill>
              </a:defRPr>
            </a:lvl1pPr>
            <a:lvl2pPr>
              <a:defRPr sz="1800" b="0">
                <a:solidFill>
                  <a:srgbClr val="506575"/>
                </a:solidFill>
              </a:defRPr>
            </a:lvl2pPr>
            <a:lvl3pPr>
              <a:defRPr sz="1800" b="0">
                <a:solidFill>
                  <a:srgbClr val="506575"/>
                </a:solidFill>
              </a:defRPr>
            </a:lvl3pPr>
            <a:lvl4pPr>
              <a:defRPr sz="1800" b="0">
                <a:solidFill>
                  <a:srgbClr val="506575"/>
                </a:solidFill>
              </a:defRPr>
            </a:lvl4pPr>
            <a:lvl5pPr>
              <a:defRPr sz="1800" b="0">
                <a:solidFill>
                  <a:srgbClr val="506575"/>
                </a:solidFill>
              </a:defRPr>
            </a:lvl5pPr>
            <a:lvl6pPr>
              <a:defRPr sz="1800" b="0">
                <a:solidFill>
                  <a:srgbClr val="506575"/>
                </a:solidFill>
              </a:defRPr>
            </a:lvl6pPr>
            <a:lvl7pPr>
              <a:defRPr sz="1800" b="0">
                <a:solidFill>
                  <a:srgbClr val="506575"/>
                </a:solidFill>
              </a:defRPr>
            </a:lvl7pPr>
            <a:lvl8pPr>
              <a:defRPr sz="1800" b="0">
                <a:solidFill>
                  <a:srgbClr val="506575"/>
                </a:solidFill>
              </a:defRPr>
            </a:lvl8pPr>
            <a:lvl9pPr>
              <a:defRPr sz="1800" b="0">
                <a:solidFill>
                  <a:srgbClr val="506575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06575"/>
                </a:solidFill>
              </a:defRPr>
            </a:pPr>
            <a:r>
              <a:rPr sz="1800" b="0">
                <a:solidFill>
                  <a:srgbClr val="506575"/>
                </a:solidFill>
              </a:rPr>
              <a:t>17 de novembro de 2026 · 21h40 a 21h50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209C2-7653-4FCB-975F-CB0C93E3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06575"/>
                </a:solidFill>
              </a:defRPr>
            </a:defPPr>
            <a:lvl1pPr>
              <a:defRPr sz="1725" b="0">
                <a:solidFill>
                  <a:srgbClr val="506575"/>
                </a:solidFill>
              </a:defRPr>
            </a:lvl1pPr>
            <a:lvl2pPr>
              <a:defRPr sz="1725" b="0">
                <a:solidFill>
                  <a:srgbClr val="506575"/>
                </a:solidFill>
              </a:defRPr>
            </a:lvl2pPr>
            <a:lvl3pPr>
              <a:defRPr sz="1725" b="0">
                <a:solidFill>
                  <a:srgbClr val="506575"/>
                </a:solidFill>
              </a:defRPr>
            </a:lvl3pPr>
            <a:lvl4pPr>
              <a:defRPr sz="1725" b="0">
                <a:solidFill>
                  <a:srgbClr val="506575"/>
                </a:solidFill>
              </a:defRPr>
            </a:lvl4pPr>
            <a:lvl5pPr>
              <a:defRPr sz="1725" b="0">
                <a:solidFill>
                  <a:srgbClr val="506575"/>
                </a:solidFill>
              </a:defRPr>
            </a:lvl5pPr>
            <a:lvl6pPr>
              <a:defRPr sz="1725" b="0">
                <a:solidFill>
                  <a:srgbClr val="506575"/>
                </a:solidFill>
              </a:defRPr>
            </a:lvl6pPr>
            <a:lvl7pPr>
              <a:defRPr sz="1725" b="0">
                <a:solidFill>
                  <a:srgbClr val="506575"/>
                </a:solidFill>
              </a:defRPr>
            </a:lvl7pPr>
            <a:lvl8pPr>
              <a:defRPr sz="1725" b="0">
                <a:solidFill>
                  <a:srgbClr val="506575"/>
                </a:solidFill>
              </a:defRPr>
            </a:lvl8pPr>
            <a:lvl9pPr>
              <a:defRPr sz="1725" b="0">
                <a:solidFill>
                  <a:srgbClr val="506575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06575"/>
                </a:solidFill>
              </a:defRPr>
            </a:pPr>
            <a:r>
              <a:rPr sz="1725" b="0">
                <a:solidFill>
                  <a:srgbClr val="506575"/>
                </a:solidFill>
              </a:rPr>
              <a:t>TPC-H SF=0,01 · 100 fornecedores</a:t>
            </a:r>
          </a:p>
        </p:txBody>
      </p:sp>
    </p:spTree>
    <p:extLst>
      <p:ext uri="{BB962C8B-B14F-4D97-AF65-F5344CB8AC3E}">
        <p14:creationId xmlns:p14="http://schemas.microsoft.com/office/powerpoint/2010/main" val="3729989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26692-59AB-4773-ABC4-6BA6D2B4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547"/>
                </a:solidFill>
              </a:defRPr>
            </a:defPPr>
            <a:lvl1pPr>
              <a:defRPr sz="3225" b="1">
                <a:solidFill>
                  <a:srgbClr val="183547"/>
                </a:solidFill>
              </a:defRPr>
            </a:lvl1pPr>
            <a:lvl2pPr>
              <a:defRPr sz="3225" b="1">
                <a:solidFill>
                  <a:srgbClr val="183547"/>
                </a:solidFill>
              </a:defRPr>
            </a:lvl2pPr>
            <a:lvl3pPr>
              <a:defRPr sz="3225" b="1">
                <a:solidFill>
                  <a:srgbClr val="183547"/>
                </a:solidFill>
              </a:defRPr>
            </a:lvl3pPr>
            <a:lvl4pPr>
              <a:defRPr sz="3225" b="1">
                <a:solidFill>
                  <a:srgbClr val="183547"/>
                </a:solidFill>
              </a:defRPr>
            </a:lvl4pPr>
            <a:lvl5pPr>
              <a:defRPr sz="3225" b="1">
                <a:solidFill>
                  <a:srgbClr val="183547"/>
                </a:solidFill>
              </a:defRPr>
            </a:lvl5pPr>
            <a:lvl6pPr>
              <a:defRPr sz="3225" b="1">
                <a:solidFill>
                  <a:srgbClr val="183547"/>
                </a:solidFill>
              </a:defRPr>
            </a:lvl6pPr>
            <a:lvl7pPr>
              <a:defRPr sz="3225" b="1">
                <a:solidFill>
                  <a:srgbClr val="183547"/>
                </a:solidFill>
              </a:defRPr>
            </a:lvl7pPr>
            <a:lvl8pPr>
              <a:defRPr sz="3225" b="1">
                <a:solidFill>
                  <a:srgbClr val="183547"/>
                </a:solidFill>
              </a:defRPr>
            </a:lvl8pPr>
            <a:lvl9pPr>
              <a:defRPr sz="3225" b="1">
                <a:solidFill>
                  <a:srgbClr val="183547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547"/>
                </a:solidFill>
              </a:defRPr>
            </a:pPr>
            <a:r>
              <a:rPr sz="3225" b="1">
                <a:solidFill>
                  <a:srgbClr val="183547"/>
                </a:solidFill>
              </a:rPr>
              <a:t>Planejamento de suprimentos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4A3BC-F93E-4E19-A1D9-D220D529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183547"/>
                </a:solidFill>
              </a:defRPr>
            </a:defPPr>
            <a:lvl1pPr>
              <a:defRPr sz="2700" b="0">
                <a:solidFill>
                  <a:srgbClr val="183547"/>
                </a:solidFill>
              </a:defRPr>
            </a:lvl1pPr>
            <a:lvl2pPr>
              <a:defRPr sz="2700" b="0">
                <a:solidFill>
                  <a:srgbClr val="183547"/>
                </a:solidFill>
              </a:defRPr>
            </a:lvl2pPr>
            <a:lvl3pPr>
              <a:defRPr sz="2700" b="0">
                <a:solidFill>
                  <a:srgbClr val="183547"/>
                </a:solidFill>
              </a:defRPr>
            </a:lvl3pPr>
            <a:lvl4pPr>
              <a:defRPr sz="2700" b="0">
                <a:solidFill>
                  <a:srgbClr val="183547"/>
                </a:solidFill>
              </a:defRPr>
            </a:lvl4pPr>
            <a:lvl5pPr>
              <a:defRPr sz="2700" b="0">
                <a:solidFill>
                  <a:srgbClr val="183547"/>
                </a:solidFill>
              </a:defRPr>
            </a:lvl5pPr>
            <a:lvl6pPr>
              <a:defRPr sz="2700" b="0">
                <a:solidFill>
                  <a:srgbClr val="183547"/>
                </a:solidFill>
              </a:defRPr>
            </a:lvl6pPr>
            <a:lvl7pPr>
              <a:defRPr sz="2700" b="0">
                <a:solidFill>
                  <a:srgbClr val="183547"/>
                </a:solidFill>
              </a:defRPr>
            </a:lvl7pPr>
            <a:lvl8pPr>
              <a:defRPr sz="2700" b="0">
                <a:solidFill>
                  <a:srgbClr val="183547"/>
                </a:solidFill>
              </a:defRPr>
            </a:lvl8pPr>
            <a:lvl9pPr>
              <a:defRPr sz="2700" b="0">
                <a:solidFill>
                  <a:srgbClr val="183547"/>
                </a:solidFill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83547"/>
                </a:solidFill>
              </a:defRPr>
            </a:pPr>
            <a:r>
              <a:rPr sz="2700" b="0">
                <a:solidFill>
                  <a:srgbClr val="183547"/>
                </a:solidFill>
              </a:rPr>
              <a:t>A distribuição do cadastro revela onde a empresa dispõe de mais alternativas de fornecedores.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B67A6-A428-4BE5-813B-0AF21F03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6B73"/>
                </a:solidFill>
              </a:defRPr>
            </a:defPPr>
            <a:lvl1pPr>
              <a:defRPr sz="2475" b="1">
                <a:solidFill>
                  <a:srgbClr val="176B73"/>
                </a:solidFill>
              </a:defRPr>
            </a:lvl1pPr>
            <a:lvl2pPr>
              <a:defRPr sz="2475" b="1">
                <a:solidFill>
                  <a:srgbClr val="176B73"/>
                </a:solidFill>
              </a:defRPr>
            </a:lvl2pPr>
            <a:lvl3pPr>
              <a:defRPr sz="2475" b="1">
                <a:solidFill>
                  <a:srgbClr val="176B73"/>
                </a:solidFill>
              </a:defRPr>
            </a:lvl3pPr>
            <a:lvl4pPr>
              <a:defRPr sz="2475" b="1">
                <a:solidFill>
                  <a:srgbClr val="176B73"/>
                </a:solidFill>
              </a:defRPr>
            </a:lvl4pPr>
            <a:lvl5pPr>
              <a:defRPr sz="2475" b="1">
                <a:solidFill>
                  <a:srgbClr val="176B73"/>
                </a:solidFill>
              </a:defRPr>
            </a:lvl5pPr>
            <a:lvl6pPr>
              <a:defRPr sz="2475" b="1">
                <a:solidFill>
                  <a:srgbClr val="176B73"/>
                </a:solidFill>
              </a:defRPr>
            </a:lvl6pPr>
            <a:lvl7pPr>
              <a:defRPr sz="2475" b="1">
                <a:solidFill>
                  <a:srgbClr val="176B73"/>
                </a:solidFill>
              </a:defRPr>
            </a:lvl7pPr>
            <a:lvl8pPr>
              <a:defRPr sz="2475" b="1">
                <a:solidFill>
                  <a:srgbClr val="176B73"/>
                </a:solidFill>
              </a:defRPr>
            </a:lvl8pPr>
            <a:lvl9pPr>
              <a:defRPr sz="2475" b="1">
                <a:solidFill>
                  <a:srgbClr val="176B73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6B73"/>
                </a:solidFill>
              </a:defRPr>
            </a:pPr>
            <a:r>
              <a:rPr sz="2475" b="1">
                <a:solidFill>
                  <a:srgbClr val="176B73"/>
                </a:solidFill>
              </a:rPr>
              <a:t>Participação regional = fornecedores da região ÷ fornecedores totais × 100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244AB-8EFB-4A5A-BC7E-770B47D9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06575"/>
                </a:solidFill>
              </a:defRPr>
            </a:defPPr>
            <a:lvl1pPr>
              <a:defRPr sz="2250" b="0">
                <a:solidFill>
                  <a:srgbClr val="506575"/>
                </a:solidFill>
              </a:defRPr>
            </a:lvl1pPr>
            <a:lvl2pPr>
              <a:defRPr sz="2250" b="0">
                <a:solidFill>
                  <a:srgbClr val="506575"/>
                </a:solidFill>
              </a:defRPr>
            </a:lvl2pPr>
            <a:lvl3pPr>
              <a:defRPr sz="2250" b="0">
                <a:solidFill>
                  <a:srgbClr val="506575"/>
                </a:solidFill>
              </a:defRPr>
            </a:lvl3pPr>
            <a:lvl4pPr>
              <a:defRPr sz="2250" b="0">
                <a:solidFill>
                  <a:srgbClr val="506575"/>
                </a:solidFill>
              </a:defRPr>
            </a:lvl4pPr>
            <a:lvl5pPr>
              <a:defRPr sz="2250" b="0">
                <a:solidFill>
                  <a:srgbClr val="506575"/>
                </a:solidFill>
              </a:defRPr>
            </a:lvl5pPr>
            <a:lvl6pPr>
              <a:defRPr sz="2250" b="0">
                <a:solidFill>
                  <a:srgbClr val="506575"/>
                </a:solidFill>
              </a:defRPr>
            </a:lvl6pPr>
            <a:lvl7pPr>
              <a:defRPr sz="2250" b="0">
                <a:solidFill>
                  <a:srgbClr val="506575"/>
                </a:solidFill>
              </a:defRPr>
            </a:lvl7pPr>
            <a:lvl8pPr>
              <a:defRPr sz="2250" b="0">
                <a:solidFill>
                  <a:srgbClr val="506575"/>
                </a:solidFill>
              </a:defRPr>
            </a:lvl8pPr>
            <a:lvl9pPr>
              <a:defRPr sz="2250" b="0">
                <a:solidFill>
                  <a:srgbClr val="506575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06575"/>
                </a:solidFill>
              </a:defRPr>
            </a:pPr>
            <a:r>
              <a:rPr sz="2250" b="0">
                <a:solidFill>
                  <a:srgbClr val="506575"/>
                </a:solidFill>
              </a:rPr>
              <a:t>Decisão apoiada: priorização da investigação e da qualificação de alternativas de suprimento.</a:t>
            </a:r>
          </a:p>
        </p:txBody>
      </p:sp>
    </p:spTree>
    <p:extLst>
      <p:ext uri="{BB962C8B-B14F-4D97-AF65-F5344CB8AC3E}">
        <p14:creationId xmlns:p14="http://schemas.microsoft.com/office/powerpoint/2010/main" val="2637489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7B954-2A37-4D59-9288-EBD5EF6F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547"/>
                </a:solidFill>
              </a:defRPr>
            </a:defPPr>
            <a:lvl1pPr>
              <a:defRPr sz="3225" b="1">
                <a:solidFill>
                  <a:srgbClr val="183547"/>
                </a:solidFill>
              </a:defRPr>
            </a:lvl1pPr>
            <a:lvl2pPr>
              <a:defRPr sz="3225" b="1">
                <a:solidFill>
                  <a:srgbClr val="183547"/>
                </a:solidFill>
              </a:defRPr>
            </a:lvl2pPr>
            <a:lvl3pPr>
              <a:defRPr sz="3225" b="1">
                <a:solidFill>
                  <a:srgbClr val="183547"/>
                </a:solidFill>
              </a:defRPr>
            </a:lvl3pPr>
            <a:lvl4pPr>
              <a:defRPr sz="3225" b="1">
                <a:solidFill>
                  <a:srgbClr val="183547"/>
                </a:solidFill>
              </a:defRPr>
            </a:lvl4pPr>
            <a:lvl5pPr>
              <a:defRPr sz="3225" b="1">
                <a:solidFill>
                  <a:srgbClr val="183547"/>
                </a:solidFill>
              </a:defRPr>
            </a:lvl5pPr>
            <a:lvl6pPr>
              <a:defRPr sz="3225" b="1">
                <a:solidFill>
                  <a:srgbClr val="183547"/>
                </a:solidFill>
              </a:defRPr>
            </a:lvl6pPr>
            <a:lvl7pPr>
              <a:defRPr sz="3225" b="1">
                <a:solidFill>
                  <a:srgbClr val="183547"/>
                </a:solidFill>
              </a:defRPr>
            </a:lvl7pPr>
            <a:lvl8pPr>
              <a:defRPr sz="3225" b="1">
                <a:solidFill>
                  <a:srgbClr val="183547"/>
                </a:solidFill>
              </a:defRPr>
            </a:lvl8pPr>
            <a:lvl9pPr>
              <a:defRPr sz="3225" b="1">
                <a:solidFill>
                  <a:srgbClr val="183547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547"/>
                </a:solidFill>
              </a:defRPr>
            </a:pPr>
            <a:r>
              <a:rPr sz="3225" b="1">
                <a:solidFill>
                  <a:srgbClr val="183547"/>
                </a:solidFill>
              </a:rPr>
              <a:t>Modelo dimensional e MongoDB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36F9A-E5FC-4AEF-B088-D65F5580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6B73"/>
                </a:solidFill>
              </a:defRPr>
            </a:defPPr>
            <a:lvl1pPr>
              <a:defRPr sz="2850" b="1">
                <a:solidFill>
                  <a:srgbClr val="176B73"/>
                </a:solidFill>
              </a:defRPr>
            </a:lvl1pPr>
            <a:lvl2pPr>
              <a:defRPr sz="2850" b="1">
                <a:solidFill>
                  <a:srgbClr val="176B73"/>
                </a:solidFill>
              </a:defRPr>
            </a:lvl2pPr>
            <a:lvl3pPr>
              <a:defRPr sz="2850" b="1">
                <a:solidFill>
                  <a:srgbClr val="176B73"/>
                </a:solidFill>
              </a:defRPr>
            </a:lvl3pPr>
            <a:lvl4pPr>
              <a:defRPr sz="2850" b="1">
                <a:solidFill>
                  <a:srgbClr val="176B73"/>
                </a:solidFill>
              </a:defRPr>
            </a:lvl4pPr>
            <a:lvl5pPr>
              <a:defRPr sz="2850" b="1">
                <a:solidFill>
                  <a:srgbClr val="176B73"/>
                </a:solidFill>
              </a:defRPr>
            </a:lvl5pPr>
            <a:lvl6pPr>
              <a:defRPr sz="2850" b="1">
                <a:solidFill>
                  <a:srgbClr val="176B73"/>
                </a:solidFill>
              </a:defRPr>
            </a:lvl6pPr>
            <a:lvl7pPr>
              <a:defRPr sz="2850" b="1">
                <a:solidFill>
                  <a:srgbClr val="176B73"/>
                </a:solidFill>
              </a:defRPr>
            </a:lvl7pPr>
            <a:lvl8pPr>
              <a:defRPr sz="2850" b="1">
                <a:solidFill>
                  <a:srgbClr val="176B73"/>
                </a:solidFill>
              </a:defRPr>
            </a:lvl8pPr>
            <a:lvl9pPr>
              <a:defRPr sz="2850" b="1">
                <a:solidFill>
                  <a:srgbClr val="176B73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6B73"/>
                </a:solidFill>
              </a:defRPr>
            </a:pPr>
            <a:r>
              <a:rPr sz="2850" b="1">
                <a:solidFill>
                  <a:srgbClr val="176B73"/>
                </a:solidFill>
              </a:rPr>
              <a:t>Grão: um fornecedor no cadastro atual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DFCA8-F2A2-418E-A92D-2465A6C1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83547"/>
                </a:solidFill>
              </a:defRPr>
            </a:defPPr>
            <a:lvl1pPr>
              <a:defRPr sz="2550" b="0">
                <a:solidFill>
                  <a:srgbClr val="183547"/>
                </a:solidFill>
              </a:defRPr>
            </a:lvl1pPr>
            <a:lvl2pPr>
              <a:defRPr sz="2550" b="0">
                <a:solidFill>
                  <a:srgbClr val="183547"/>
                </a:solidFill>
              </a:defRPr>
            </a:lvl2pPr>
            <a:lvl3pPr>
              <a:defRPr sz="2550" b="0">
                <a:solidFill>
                  <a:srgbClr val="183547"/>
                </a:solidFill>
              </a:defRPr>
            </a:lvl3pPr>
            <a:lvl4pPr>
              <a:defRPr sz="2550" b="0">
                <a:solidFill>
                  <a:srgbClr val="183547"/>
                </a:solidFill>
              </a:defRPr>
            </a:lvl4pPr>
            <a:lvl5pPr>
              <a:defRPr sz="2550" b="0">
                <a:solidFill>
                  <a:srgbClr val="183547"/>
                </a:solidFill>
              </a:defRPr>
            </a:lvl5pPr>
            <a:lvl6pPr>
              <a:defRPr sz="2550" b="0">
                <a:solidFill>
                  <a:srgbClr val="183547"/>
                </a:solidFill>
              </a:defRPr>
            </a:lvl6pPr>
            <a:lvl7pPr>
              <a:defRPr sz="2550" b="0">
                <a:solidFill>
                  <a:srgbClr val="183547"/>
                </a:solidFill>
              </a:defRPr>
            </a:lvl7pPr>
            <a:lvl8pPr>
              <a:defRPr sz="2550" b="0">
                <a:solidFill>
                  <a:srgbClr val="183547"/>
                </a:solidFill>
              </a:defRPr>
            </a:lvl8pPr>
            <a:lvl9pPr>
              <a:defRPr sz="2550" b="0">
                <a:solidFill>
                  <a:srgbClr val="183547"/>
                </a:solidFill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83547"/>
                </a:solidFill>
              </a:defRPr>
            </a:pPr>
            <a:r>
              <a:rPr sz="2550" b="0">
                <a:solidFill>
                  <a:srgbClr val="183547"/>
                </a:solidFill>
              </a:rPr>
              <a:t>Fato: quantidadeFornecedores = 1</a:t>
            </a:r>
          </a:p>
          <a:p xmlns:a="http://schemas.openxmlformats.org/drawingml/2006/main">
            <a:pPr>
              <a:defRPr sz="2550" b="0">
                <a:solidFill>
                  <a:srgbClr val="183547"/>
                </a:solidFill>
              </a:defRPr>
            </a:pPr>
            <a:r>
              <a:rPr sz="2550" b="0">
                <a:solidFill>
                  <a:srgbClr val="183547"/>
                </a:solidFill>
              </a:rPr>
              <a:t>Dimensão Fornecedor: ID e nome</a:t>
            </a:r>
          </a:p>
          <a:p xmlns:a="http://schemas.openxmlformats.org/drawingml/2006/main">
            <a:pPr>
              <a:defRPr sz="2550" b="0">
                <a:solidFill>
                  <a:srgbClr val="183547"/>
                </a:solidFill>
              </a:defRPr>
            </a:pPr>
            <a:r>
              <a:rPr sz="2550" b="0">
                <a:solidFill>
                  <a:srgbClr val="183547"/>
                </a:solidFill>
              </a:rPr>
              <a:t>Dimensão Geografia: país e região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FD20A-9F59-46AA-9FD8-31D020D7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06575"/>
                </a:solidFill>
              </a:defRPr>
            </a:defPPr>
            <a:lvl1pPr>
              <a:defRPr sz="2100" b="0">
                <a:solidFill>
                  <a:srgbClr val="506575"/>
                </a:solidFill>
              </a:defRPr>
            </a:lvl1pPr>
            <a:lvl2pPr>
              <a:defRPr sz="2100" b="0">
                <a:solidFill>
                  <a:srgbClr val="506575"/>
                </a:solidFill>
              </a:defRPr>
            </a:lvl2pPr>
            <a:lvl3pPr>
              <a:defRPr sz="2100" b="0">
                <a:solidFill>
                  <a:srgbClr val="506575"/>
                </a:solidFill>
              </a:defRPr>
            </a:lvl3pPr>
            <a:lvl4pPr>
              <a:defRPr sz="2100" b="0">
                <a:solidFill>
                  <a:srgbClr val="506575"/>
                </a:solidFill>
              </a:defRPr>
            </a:lvl4pPr>
            <a:lvl5pPr>
              <a:defRPr sz="2100" b="0">
                <a:solidFill>
                  <a:srgbClr val="506575"/>
                </a:solidFill>
              </a:defRPr>
            </a:lvl5pPr>
            <a:lvl6pPr>
              <a:defRPr sz="2100" b="0">
                <a:solidFill>
                  <a:srgbClr val="506575"/>
                </a:solidFill>
              </a:defRPr>
            </a:lvl6pPr>
            <a:lvl7pPr>
              <a:defRPr sz="2100" b="0">
                <a:solidFill>
                  <a:srgbClr val="506575"/>
                </a:solidFill>
              </a:defRPr>
            </a:lvl7pPr>
            <a:lvl8pPr>
              <a:defRPr sz="2100" b="0">
                <a:solidFill>
                  <a:srgbClr val="506575"/>
                </a:solidFill>
              </a:defRPr>
            </a:lvl8pPr>
            <a:lvl9pPr>
              <a:defRPr sz="2100" b="0">
                <a:solidFill>
                  <a:srgbClr val="506575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06575"/>
                </a:solidFill>
              </a:defRPr>
            </a:pPr>
            <a:r>
              <a:rPr sz="2100" b="0">
                <a:solidFill>
                  <a:srgbClr val="506575"/>
                </a:solidFill>
              </a:rPr>
              <a:t>MongoDB: atributos incorporados no documento do fornecedor.</a:t>
            </a:r>
          </a:p>
          <a:p xmlns:a="http://schemas.openxmlformats.org/drawingml/2006/main">
            <a:pPr>
              <a:defRPr sz="2100" b="0">
                <a:solidFill>
                  <a:srgbClr val="506575"/>
                </a:solidFill>
              </a:defRPr>
            </a:pPr>
            <a:r>
              <a:rPr sz="2100" b="0">
                <a:solidFill>
                  <a:srgbClr val="506575"/>
                </a:solidFill>
              </a:rPr>
              <a:t>Dimensões auxiliares preservam países e regiões sem cadastros.</a:t>
            </a:r>
          </a:p>
        </p:txBody>
      </p:sp>
    </p:spTree>
    <p:extLst>
      <p:ext uri="{BB962C8B-B14F-4D97-AF65-F5344CB8AC3E}">
        <p14:creationId xmlns:p14="http://schemas.microsoft.com/office/powerpoint/2010/main" val="13113436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CC865-AB1A-4841-BCF9-D11D6068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547"/>
                </a:solidFill>
              </a:defRPr>
            </a:defPPr>
            <a:lvl1pPr>
              <a:defRPr sz="3225" b="1">
                <a:solidFill>
                  <a:srgbClr val="183547"/>
                </a:solidFill>
              </a:defRPr>
            </a:lvl1pPr>
            <a:lvl2pPr>
              <a:defRPr sz="3225" b="1">
                <a:solidFill>
                  <a:srgbClr val="183547"/>
                </a:solidFill>
              </a:defRPr>
            </a:lvl2pPr>
            <a:lvl3pPr>
              <a:defRPr sz="3225" b="1">
                <a:solidFill>
                  <a:srgbClr val="183547"/>
                </a:solidFill>
              </a:defRPr>
            </a:lvl3pPr>
            <a:lvl4pPr>
              <a:defRPr sz="3225" b="1">
                <a:solidFill>
                  <a:srgbClr val="183547"/>
                </a:solidFill>
              </a:defRPr>
            </a:lvl4pPr>
            <a:lvl5pPr>
              <a:defRPr sz="3225" b="1">
                <a:solidFill>
                  <a:srgbClr val="183547"/>
                </a:solidFill>
              </a:defRPr>
            </a:lvl5pPr>
            <a:lvl6pPr>
              <a:defRPr sz="3225" b="1">
                <a:solidFill>
                  <a:srgbClr val="183547"/>
                </a:solidFill>
              </a:defRPr>
            </a:lvl6pPr>
            <a:lvl7pPr>
              <a:defRPr sz="3225" b="1">
                <a:solidFill>
                  <a:srgbClr val="183547"/>
                </a:solidFill>
              </a:defRPr>
            </a:lvl7pPr>
            <a:lvl8pPr>
              <a:defRPr sz="3225" b="1">
                <a:solidFill>
                  <a:srgbClr val="183547"/>
                </a:solidFill>
              </a:defRPr>
            </a:lvl8pPr>
            <a:lvl9pPr>
              <a:defRPr sz="3225" b="1">
                <a:solidFill>
                  <a:srgbClr val="183547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547"/>
                </a:solidFill>
              </a:defRPr>
            </a:pPr>
            <a:r>
              <a:rPr sz="3225" b="1">
                <a:solidFill>
                  <a:srgbClr val="183547"/>
                </a:solidFill>
              </a:rPr>
              <a:t>ETL reproduzível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1FED9-A8A0-4978-B69E-E8762154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668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83547"/>
                </a:solidFill>
              </a:defRPr>
            </a:defPPr>
            <a:lvl1pPr>
              <a:defRPr sz="2325" b="0">
                <a:solidFill>
                  <a:srgbClr val="183547"/>
                </a:solidFill>
              </a:defRPr>
            </a:lvl1pPr>
            <a:lvl2pPr>
              <a:defRPr sz="2325" b="0">
                <a:solidFill>
                  <a:srgbClr val="183547"/>
                </a:solidFill>
              </a:defRPr>
            </a:lvl2pPr>
            <a:lvl3pPr>
              <a:defRPr sz="2325" b="0">
                <a:solidFill>
                  <a:srgbClr val="183547"/>
                </a:solidFill>
              </a:defRPr>
            </a:lvl3pPr>
            <a:lvl4pPr>
              <a:defRPr sz="2325" b="0">
                <a:solidFill>
                  <a:srgbClr val="183547"/>
                </a:solidFill>
              </a:defRPr>
            </a:lvl4pPr>
            <a:lvl5pPr>
              <a:defRPr sz="2325" b="0">
                <a:solidFill>
                  <a:srgbClr val="183547"/>
                </a:solidFill>
              </a:defRPr>
            </a:lvl5pPr>
            <a:lvl6pPr>
              <a:defRPr sz="2325" b="0">
                <a:solidFill>
                  <a:srgbClr val="183547"/>
                </a:solidFill>
              </a:defRPr>
            </a:lvl6pPr>
            <a:lvl7pPr>
              <a:defRPr sz="2325" b="0">
                <a:solidFill>
                  <a:srgbClr val="183547"/>
                </a:solidFill>
              </a:defRPr>
            </a:lvl7pPr>
            <a:lvl8pPr>
              <a:defRPr sz="2325" b="0">
                <a:solidFill>
                  <a:srgbClr val="183547"/>
                </a:solidFill>
              </a:defRPr>
            </a:lvl8pPr>
            <a:lvl9pPr>
              <a:defRPr sz="2325" b="0">
                <a:solidFill>
                  <a:srgbClr val="183547"/>
                </a:solidFill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83547"/>
                </a:solidFill>
              </a:defRPr>
            </a:pPr>
            <a:r>
              <a:rPr sz="2325" b="0">
                <a:solidFill>
                  <a:srgbClr val="183547"/>
                </a:solidFill>
              </a:rPr>
              <a:t>Extract: consulta SQL no MySQL</a:t>
            </a:r>
          </a:p>
          <a:p xmlns:a="http://schemas.openxmlformats.org/drawingml/2006/main">
            <a:pPr>
              <a:defRPr sz="2325" b="0">
                <a:solidFill>
                  <a:srgbClr val="183547"/>
                </a:solidFill>
              </a:defRPr>
            </a:pPr>
            <a:r>
              <a:rPr sz="2325" b="0">
                <a:solidFill>
                  <a:srgbClr val="183547"/>
                </a:solidFill>
              </a:rPr>
              <a:t/>
            </a:r>
          </a:p>
          <a:p xmlns:a="http://schemas.openxmlformats.org/drawingml/2006/main">
            <a:pPr>
              <a:defRPr sz="2325" b="0">
                <a:solidFill>
                  <a:srgbClr val="183547"/>
                </a:solidFill>
              </a:defRPr>
            </a:pPr>
            <a:r>
              <a:rPr sz="2325" b="0">
                <a:solidFill>
                  <a:srgbClr val="183547"/>
                </a:solidFill>
              </a:rPr>
              <a:t>Transform: integração e tratamento no mongosh</a:t>
            </a:r>
          </a:p>
          <a:p xmlns:a="http://schemas.openxmlformats.org/drawingml/2006/main">
            <a:pPr>
              <a:defRPr sz="2325" b="0">
                <a:solidFill>
                  <a:srgbClr val="183547"/>
                </a:solidFill>
              </a:defRPr>
            </a:pPr>
            <a:r>
              <a:rPr sz="2325" b="0">
                <a:solidFill>
                  <a:srgbClr val="183547"/>
                </a:solidFill>
              </a:rPr>
              <a:t/>
            </a:r>
          </a:p>
          <a:p xmlns:a="http://schemas.openxmlformats.org/drawingml/2006/main">
            <a:pPr>
              <a:defRPr sz="2325" b="0">
                <a:solidFill>
                  <a:srgbClr val="183547"/>
                </a:solidFill>
              </a:defRPr>
            </a:pPr>
            <a:r>
              <a:rPr sz="2325" b="0">
                <a:solidFill>
                  <a:srgbClr val="183547"/>
                </a:solidFill>
              </a:rPr>
              <a:t>Load: documentos incorporados no MongoDB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FF30D-1830-430D-A6BC-0AA4E3FE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6B73"/>
                </a:solidFill>
              </a:defRPr>
            </a:defPPr>
            <a:lvl1pPr>
              <a:defRPr sz="1875" b="0">
                <a:solidFill>
                  <a:srgbClr val="176B73"/>
                </a:solidFill>
              </a:defRPr>
            </a:lvl1pPr>
            <a:lvl2pPr>
              <a:defRPr sz="1875" b="0">
                <a:solidFill>
                  <a:srgbClr val="176B73"/>
                </a:solidFill>
              </a:defRPr>
            </a:lvl2pPr>
            <a:lvl3pPr>
              <a:defRPr sz="1875" b="0">
                <a:solidFill>
                  <a:srgbClr val="176B73"/>
                </a:solidFill>
              </a:defRPr>
            </a:lvl3pPr>
            <a:lvl4pPr>
              <a:defRPr sz="1875" b="0">
                <a:solidFill>
                  <a:srgbClr val="176B73"/>
                </a:solidFill>
              </a:defRPr>
            </a:lvl4pPr>
            <a:lvl5pPr>
              <a:defRPr sz="1875" b="0">
                <a:solidFill>
                  <a:srgbClr val="176B73"/>
                </a:solidFill>
              </a:defRPr>
            </a:lvl5pPr>
            <a:lvl6pPr>
              <a:defRPr sz="1875" b="0">
                <a:solidFill>
                  <a:srgbClr val="176B73"/>
                </a:solidFill>
              </a:defRPr>
            </a:lvl6pPr>
            <a:lvl7pPr>
              <a:defRPr sz="1875" b="0">
                <a:solidFill>
                  <a:srgbClr val="176B73"/>
                </a:solidFill>
              </a:defRPr>
            </a:lvl7pPr>
            <a:lvl8pPr>
              <a:defRPr sz="1875" b="0">
                <a:solidFill>
                  <a:srgbClr val="176B73"/>
                </a:solidFill>
              </a:defRPr>
            </a:lvl8pPr>
            <a:lvl9pPr>
              <a:defRPr sz="1875" b="0">
                <a:solidFill>
                  <a:srgbClr val="176B73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6B73"/>
                </a:solidFill>
              </a:defRPr>
            </a:pPr>
            <a:r>
              <a:rPr sz="1875" b="0">
                <a:solidFill>
                  <a:srgbClr val="176B73"/>
                </a:solidFill>
              </a:rPr>
              <a:t>Chave do documento = s_suppkey. Cada fornecedor aparece uma vez.</a:t>
            </a:r>
          </a:p>
        </p:txBody>
      </p:sp>
    </p:spTree>
    <p:extLst>
      <p:ext uri="{BB962C8B-B14F-4D97-AF65-F5344CB8AC3E}">
        <p14:creationId xmlns:p14="http://schemas.microsoft.com/office/powerpoint/2010/main" val="6100808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BACB0-E904-4470-BD20-098F7AE6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547"/>
                </a:solidFill>
              </a:defRPr>
            </a:defPPr>
            <a:lvl1pPr>
              <a:defRPr sz="3225" b="1">
                <a:solidFill>
                  <a:srgbClr val="183547"/>
                </a:solidFill>
              </a:defRPr>
            </a:lvl1pPr>
            <a:lvl2pPr>
              <a:defRPr sz="3225" b="1">
                <a:solidFill>
                  <a:srgbClr val="183547"/>
                </a:solidFill>
              </a:defRPr>
            </a:lvl2pPr>
            <a:lvl3pPr>
              <a:defRPr sz="3225" b="1">
                <a:solidFill>
                  <a:srgbClr val="183547"/>
                </a:solidFill>
              </a:defRPr>
            </a:lvl3pPr>
            <a:lvl4pPr>
              <a:defRPr sz="3225" b="1">
                <a:solidFill>
                  <a:srgbClr val="183547"/>
                </a:solidFill>
              </a:defRPr>
            </a:lvl4pPr>
            <a:lvl5pPr>
              <a:defRPr sz="3225" b="1">
                <a:solidFill>
                  <a:srgbClr val="183547"/>
                </a:solidFill>
              </a:defRPr>
            </a:lvl5pPr>
            <a:lvl6pPr>
              <a:defRPr sz="3225" b="1">
                <a:solidFill>
                  <a:srgbClr val="183547"/>
                </a:solidFill>
              </a:defRPr>
            </a:lvl6pPr>
            <a:lvl7pPr>
              <a:defRPr sz="3225" b="1">
                <a:solidFill>
                  <a:srgbClr val="183547"/>
                </a:solidFill>
              </a:defRPr>
            </a:lvl7pPr>
            <a:lvl8pPr>
              <a:defRPr sz="3225" b="1">
                <a:solidFill>
                  <a:srgbClr val="183547"/>
                </a:solidFill>
              </a:defRPr>
            </a:lvl8pPr>
            <a:lvl9pPr>
              <a:defRPr sz="3225" b="1">
                <a:solidFill>
                  <a:srgbClr val="183547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547"/>
                </a:solidFill>
              </a:defRPr>
            </a:pPr>
            <a:r>
              <a:rPr sz="3225" b="1">
                <a:solidFill>
                  <a:srgbClr val="183547"/>
                </a:solidFill>
              </a:rPr>
              <a:t>Validação aprovada no Docker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9C641-7F51-4FCE-91EF-4C8E5179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506575"/>
                </a:solidFill>
              </a:defRPr>
            </a:defPPr>
            <a:lvl1pPr>
              <a:defRPr sz="2250" b="1">
                <a:solidFill>
                  <a:srgbClr val="506575"/>
                </a:solidFill>
              </a:defRPr>
            </a:lvl1pPr>
            <a:lvl2pPr>
              <a:defRPr sz="2250" b="1">
                <a:solidFill>
                  <a:srgbClr val="506575"/>
                </a:solidFill>
              </a:defRPr>
            </a:lvl2pPr>
            <a:lvl3pPr>
              <a:defRPr sz="2250" b="1">
                <a:solidFill>
                  <a:srgbClr val="506575"/>
                </a:solidFill>
              </a:defRPr>
            </a:lvl3pPr>
            <a:lvl4pPr>
              <a:defRPr sz="2250" b="1">
                <a:solidFill>
                  <a:srgbClr val="506575"/>
                </a:solidFill>
              </a:defRPr>
            </a:lvl4pPr>
            <a:lvl5pPr>
              <a:defRPr sz="2250" b="1">
                <a:solidFill>
                  <a:srgbClr val="506575"/>
                </a:solidFill>
              </a:defRPr>
            </a:lvl5pPr>
            <a:lvl6pPr>
              <a:defRPr sz="2250" b="1">
                <a:solidFill>
                  <a:srgbClr val="506575"/>
                </a:solidFill>
              </a:defRPr>
            </a:lvl6pPr>
            <a:lvl7pPr>
              <a:defRPr sz="2250" b="1">
                <a:solidFill>
                  <a:srgbClr val="506575"/>
                </a:solidFill>
              </a:defRPr>
            </a:lvl7pPr>
            <a:lvl8pPr>
              <a:defRPr sz="2250" b="1">
                <a:solidFill>
                  <a:srgbClr val="506575"/>
                </a:solidFill>
              </a:defRPr>
            </a:lvl8pPr>
            <a:lvl9pPr>
              <a:defRPr sz="2250" b="1">
                <a:solidFill>
                  <a:srgbClr val="506575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06575"/>
                </a:solidFill>
              </a:defRPr>
            </a:pPr>
            <a:r>
              <a:rPr sz="2250" b="1">
                <a:solidFill>
                  <a:srgbClr val="506575"/>
                </a:solidFill>
              </a:rPr>
              <a:t>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EC5BA-221A-4B8D-A711-F6EAEEF3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83547"/>
                </a:solidFill>
              </a:defRPr>
            </a:defPPr>
            <a:lvl1pPr>
              <a:defRPr sz="2550" b="0">
                <a:solidFill>
                  <a:srgbClr val="183547"/>
                </a:solidFill>
              </a:defRPr>
            </a:lvl1pPr>
            <a:lvl2pPr>
              <a:defRPr sz="2550" b="0">
                <a:solidFill>
                  <a:srgbClr val="183547"/>
                </a:solidFill>
              </a:defRPr>
            </a:lvl2pPr>
            <a:lvl3pPr>
              <a:defRPr sz="2550" b="0">
                <a:solidFill>
                  <a:srgbClr val="183547"/>
                </a:solidFill>
              </a:defRPr>
            </a:lvl3pPr>
            <a:lvl4pPr>
              <a:defRPr sz="2550" b="0">
                <a:solidFill>
                  <a:srgbClr val="183547"/>
                </a:solidFill>
              </a:defRPr>
            </a:lvl4pPr>
            <a:lvl5pPr>
              <a:defRPr sz="2550" b="0">
                <a:solidFill>
                  <a:srgbClr val="183547"/>
                </a:solidFill>
              </a:defRPr>
            </a:lvl5pPr>
            <a:lvl6pPr>
              <a:defRPr sz="2550" b="0">
                <a:solidFill>
                  <a:srgbClr val="183547"/>
                </a:solidFill>
              </a:defRPr>
            </a:lvl6pPr>
            <a:lvl7pPr>
              <a:defRPr sz="2550" b="0">
                <a:solidFill>
                  <a:srgbClr val="183547"/>
                </a:solidFill>
              </a:defRPr>
            </a:lvl7pPr>
            <a:lvl8pPr>
              <a:defRPr sz="2550" b="0">
                <a:solidFill>
                  <a:srgbClr val="183547"/>
                </a:solidFill>
              </a:defRPr>
            </a:lvl8pPr>
            <a:lvl9pPr>
              <a:defRPr sz="2550" b="0">
                <a:solidFill>
                  <a:srgbClr val="183547"/>
                </a:solidFill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83547"/>
                </a:solidFill>
              </a:defRPr>
            </a:pPr>
            <a:r>
              <a:rPr sz="2550" b="0">
                <a:solidFill>
                  <a:srgbClr val="183547"/>
                </a:solidFill>
              </a:rPr>
              <a:t>100 fornecedores</a:t>
            </a:r>
          </a:p>
          <a:p xmlns:a="http://schemas.openxmlformats.org/drawingml/2006/main">
            <a:pPr>
              <a:defRPr sz="2550" b="0">
                <a:solidFill>
                  <a:srgbClr val="183547"/>
                </a:solidFill>
              </a:defRPr>
            </a:pPr>
            <a:r>
              <a:rPr sz="2550" b="0">
                <a:solidFill>
                  <a:srgbClr val="183547"/>
                </a:solidFill>
              </a:rPr>
              <a:t>25 países</a:t>
            </a:r>
          </a:p>
          <a:p xmlns:a="http://schemas.openxmlformats.org/drawingml/2006/main">
            <a:pPr>
              <a:defRPr sz="2550" b="0">
                <a:solidFill>
                  <a:srgbClr val="183547"/>
                </a:solidFill>
              </a:defRPr>
            </a:pPr>
            <a:r>
              <a:rPr sz="2550" b="0">
                <a:solidFill>
                  <a:srgbClr val="183547"/>
                </a:solidFill>
              </a:rPr>
              <a:t>5 regiões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D37B8-C7D3-4177-B772-4E243185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6B73"/>
                </a:solidFill>
              </a:defRPr>
            </a:defPPr>
            <a:lvl1pPr>
              <a:defRPr sz="2250" b="1">
                <a:solidFill>
                  <a:srgbClr val="176B73"/>
                </a:solidFill>
              </a:defRPr>
            </a:lvl1pPr>
            <a:lvl2pPr>
              <a:defRPr sz="2250" b="1">
                <a:solidFill>
                  <a:srgbClr val="176B73"/>
                </a:solidFill>
              </a:defRPr>
            </a:lvl2pPr>
            <a:lvl3pPr>
              <a:defRPr sz="2250" b="1">
                <a:solidFill>
                  <a:srgbClr val="176B73"/>
                </a:solidFill>
              </a:defRPr>
            </a:lvl3pPr>
            <a:lvl4pPr>
              <a:defRPr sz="2250" b="1">
                <a:solidFill>
                  <a:srgbClr val="176B73"/>
                </a:solidFill>
              </a:defRPr>
            </a:lvl4pPr>
            <a:lvl5pPr>
              <a:defRPr sz="2250" b="1">
                <a:solidFill>
                  <a:srgbClr val="176B73"/>
                </a:solidFill>
              </a:defRPr>
            </a:lvl5pPr>
            <a:lvl6pPr>
              <a:defRPr sz="2250" b="1">
                <a:solidFill>
                  <a:srgbClr val="176B73"/>
                </a:solidFill>
              </a:defRPr>
            </a:lvl6pPr>
            <a:lvl7pPr>
              <a:defRPr sz="2250" b="1">
                <a:solidFill>
                  <a:srgbClr val="176B73"/>
                </a:solidFill>
              </a:defRPr>
            </a:lvl7pPr>
            <a:lvl8pPr>
              <a:defRPr sz="2250" b="1">
                <a:solidFill>
                  <a:srgbClr val="176B73"/>
                </a:solidFill>
              </a:defRPr>
            </a:lvl8pPr>
            <a:lvl9pPr>
              <a:defRPr sz="2250" b="1">
                <a:solidFill>
                  <a:srgbClr val="176B73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6B73"/>
                </a:solidFill>
              </a:defRPr>
            </a:pPr>
            <a:r>
              <a:rPr sz="2250" b="1">
                <a:solidFill>
                  <a:srgbClr val="176B73"/>
                </a:solidFill>
              </a:rPr>
              <a:t>0 divergências por fornecedor</a:t>
            </a:r>
          </a:p>
          <a:p xmlns:a="http://schemas.openxmlformats.org/drawingml/2006/main">
            <a:pPr>
              <a:defRPr sz="2250" b="1">
                <a:solidFill>
                  <a:srgbClr val="176B73"/>
                </a:solidFill>
              </a:defRPr>
            </a:pPr>
            <a:r>
              <a:rPr sz="2250" b="1">
                <a:solidFill>
                  <a:srgbClr val="176B73"/>
                </a:solidFill>
              </a:rPr>
              <a:t>Indicadores por região e país equivalentes</a:t>
            </a:r>
          </a:p>
          <a:p xmlns:a="http://schemas.openxmlformats.org/drawingml/2006/main">
            <a:pPr>
              <a:defRPr sz="2250" b="1">
                <a:solidFill>
                  <a:srgbClr val="176B73"/>
                </a:solidFill>
              </a:defRPr>
            </a:pPr>
            <a:r>
              <a:rPr sz="2250" b="1">
                <a:solidFill>
                  <a:srgbClr val="176B73"/>
                </a:solidFill>
              </a:rPr>
              <a:t>Participações regionais somam 100%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1D00B-229F-40AD-9A71-CDC6F8EC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506575"/>
                </a:solidFill>
              </a:defRPr>
            </a:defPPr>
            <a:lvl1pPr>
              <a:defRPr sz="2250" b="1">
                <a:solidFill>
                  <a:srgbClr val="506575"/>
                </a:solidFill>
              </a:defRPr>
            </a:lvl1pPr>
            <a:lvl2pPr>
              <a:defRPr sz="2250" b="1">
                <a:solidFill>
                  <a:srgbClr val="506575"/>
                </a:solidFill>
              </a:defRPr>
            </a:lvl2pPr>
            <a:lvl3pPr>
              <a:defRPr sz="2250" b="1">
                <a:solidFill>
                  <a:srgbClr val="506575"/>
                </a:solidFill>
              </a:defRPr>
            </a:lvl3pPr>
            <a:lvl4pPr>
              <a:defRPr sz="2250" b="1">
                <a:solidFill>
                  <a:srgbClr val="506575"/>
                </a:solidFill>
              </a:defRPr>
            </a:lvl4pPr>
            <a:lvl5pPr>
              <a:defRPr sz="2250" b="1">
                <a:solidFill>
                  <a:srgbClr val="506575"/>
                </a:solidFill>
              </a:defRPr>
            </a:lvl5pPr>
            <a:lvl6pPr>
              <a:defRPr sz="2250" b="1">
                <a:solidFill>
                  <a:srgbClr val="506575"/>
                </a:solidFill>
              </a:defRPr>
            </a:lvl6pPr>
            <a:lvl7pPr>
              <a:defRPr sz="2250" b="1">
                <a:solidFill>
                  <a:srgbClr val="506575"/>
                </a:solidFill>
              </a:defRPr>
            </a:lvl7pPr>
            <a:lvl8pPr>
              <a:defRPr sz="2250" b="1">
                <a:solidFill>
                  <a:srgbClr val="506575"/>
                </a:solidFill>
              </a:defRPr>
            </a:lvl8pPr>
            <a:lvl9pPr>
              <a:defRPr sz="2250" b="1">
                <a:solidFill>
                  <a:srgbClr val="506575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06575"/>
                </a:solidFill>
              </a:defRPr>
            </a:pPr>
            <a:r>
              <a:rPr sz="2250" b="1">
                <a:solidFill>
                  <a:srgbClr val="506575"/>
                </a:solidFill>
              </a:rPr>
              <a:t>MongoDB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ED7D80-B4A5-483E-8B1B-CE987A70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24125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83547"/>
                </a:solidFill>
              </a:defRPr>
            </a:defPPr>
            <a:lvl1pPr>
              <a:defRPr sz="2550" b="0">
                <a:solidFill>
                  <a:srgbClr val="183547"/>
                </a:solidFill>
              </a:defRPr>
            </a:lvl1pPr>
            <a:lvl2pPr>
              <a:defRPr sz="2550" b="0">
                <a:solidFill>
                  <a:srgbClr val="183547"/>
                </a:solidFill>
              </a:defRPr>
            </a:lvl2pPr>
            <a:lvl3pPr>
              <a:defRPr sz="2550" b="0">
                <a:solidFill>
                  <a:srgbClr val="183547"/>
                </a:solidFill>
              </a:defRPr>
            </a:lvl3pPr>
            <a:lvl4pPr>
              <a:defRPr sz="2550" b="0">
                <a:solidFill>
                  <a:srgbClr val="183547"/>
                </a:solidFill>
              </a:defRPr>
            </a:lvl4pPr>
            <a:lvl5pPr>
              <a:defRPr sz="2550" b="0">
                <a:solidFill>
                  <a:srgbClr val="183547"/>
                </a:solidFill>
              </a:defRPr>
            </a:lvl5pPr>
            <a:lvl6pPr>
              <a:defRPr sz="2550" b="0">
                <a:solidFill>
                  <a:srgbClr val="183547"/>
                </a:solidFill>
              </a:defRPr>
            </a:lvl6pPr>
            <a:lvl7pPr>
              <a:defRPr sz="2550" b="0">
                <a:solidFill>
                  <a:srgbClr val="183547"/>
                </a:solidFill>
              </a:defRPr>
            </a:lvl7pPr>
            <a:lvl8pPr>
              <a:defRPr sz="2550" b="0">
                <a:solidFill>
                  <a:srgbClr val="183547"/>
                </a:solidFill>
              </a:defRPr>
            </a:lvl8pPr>
            <a:lvl9pPr>
              <a:defRPr sz="2550" b="0">
                <a:solidFill>
                  <a:srgbClr val="183547"/>
                </a:solidFill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83547"/>
                </a:solidFill>
              </a:defRPr>
            </a:pPr>
            <a:r>
              <a:rPr sz="2550" b="0">
                <a:solidFill>
                  <a:srgbClr val="183547"/>
                </a:solidFill>
              </a:rPr>
              <a:t>100 fornecedores</a:t>
            </a:r>
          </a:p>
          <a:p xmlns:a="http://schemas.openxmlformats.org/drawingml/2006/main">
            <a:pPr>
              <a:defRPr sz="2550" b="0">
                <a:solidFill>
                  <a:srgbClr val="183547"/>
                </a:solidFill>
              </a:defRPr>
            </a:pPr>
            <a:r>
              <a:rPr sz="2550" b="0">
                <a:solidFill>
                  <a:srgbClr val="183547"/>
                </a:solidFill>
              </a:rPr>
              <a:t>25 países</a:t>
            </a:r>
          </a:p>
          <a:p xmlns:a="http://schemas.openxmlformats.org/drawingml/2006/main">
            <a:pPr>
              <a:defRPr sz="2550" b="0">
                <a:solidFill>
                  <a:srgbClr val="183547"/>
                </a:solidFill>
              </a:defRPr>
            </a:pPr>
            <a:r>
              <a:rPr sz="2550" b="0">
                <a:solidFill>
                  <a:srgbClr val="183547"/>
                </a:solidFill>
              </a:rPr>
              <a:t>5 regiões</a:t>
            </a:r>
          </a:p>
        </p:txBody>
      </p:sp>
    </p:spTree>
    <p:extLst>
      <p:ext uri="{BB962C8B-B14F-4D97-AF65-F5344CB8AC3E}">
        <p14:creationId xmlns:p14="http://schemas.microsoft.com/office/powerpoint/2010/main" val="6397108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A889D-1C18-43C6-A78B-F536EC6B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547"/>
                </a:solidFill>
              </a:defRPr>
            </a:defPPr>
            <a:lvl1pPr>
              <a:defRPr sz="3225" b="1">
                <a:solidFill>
                  <a:srgbClr val="183547"/>
                </a:solidFill>
              </a:defRPr>
            </a:lvl1pPr>
            <a:lvl2pPr>
              <a:defRPr sz="3225" b="1">
                <a:solidFill>
                  <a:srgbClr val="183547"/>
                </a:solidFill>
              </a:defRPr>
            </a:lvl2pPr>
            <a:lvl3pPr>
              <a:defRPr sz="3225" b="1">
                <a:solidFill>
                  <a:srgbClr val="183547"/>
                </a:solidFill>
              </a:defRPr>
            </a:lvl3pPr>
            <a:lvl4pPr>
              <a:defRPr sz="3225" b="1">
                <a:solidFill>
                  <a:srgbClr val="183547"/>
                </a:solidFill>
              </a:defRPr>
            </a:lvl4pPr>
            <a:lvl5pPr>
              <a:defRPr sz="3225" b="1">
                <a:solidFill>
                  <a:srgbClr val="183547"/>
                </a:solidFill>
              </a:defRPr>
            </a:lvl5pPr>
            <a:lvl6pPr>
              <a:defRPr sz="3225" b="1">
                <a:solidFill>
                  <a:srgbClr val="183547"/>
                </a:solidFill>
              </a:defRPr>
            </a:lvl6pPr>
            <a:lvl7pPr>
              <a:defRPr sz="3225" b="1">
                <a:solidFill>
                  <a:srgbClr val="183547"/>
                </a:solidFill>
              </a:defRPr>
            </a:lvl7pPr>
            <a:lvl8pPr>
              <a:defRPr sz="3225" b="1">
                <a:solidFill>
                  <a:srgbClr val="183547"/>
                </a:solidFill>
              </a:defRPr>
            </a:lvl8pPr>
            <a:lvl9pPr>
              <a:defRPr sz="3225" b="1">
                <a:solidFill>
                  <a:srgbClr val="183547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547"/>
                </a:solidFill>
              </a:defRPr>
            </a:pPr>
            <a:r>
              <a:rPr sz="3225" b="1">
                <a:solidFill>
                  <a:srgbClr val="183547"/>
                </a:solidFill>
              </a:rPr>
              <a:t>Ásia reúne 27% dos fornecedores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F4CA3BCB-5564-4871-8D08-A3EDD295C033}"/>
              </a:ext>
            </a:extLst>
          </p:cNvPr>
          <p:cNvGraphicFramePr/>
          <p:nvPr/>
        </p:nvGraphicFramePr>
        <p:xfrm>
          <a:off xmlns:a="http://schemas.openxmlformats.org/drawingml/2006/main" x="619125" y="1714500"/>
          <a:ext xmlns:a="http://schemas.openxmlformats.org/drawingml/2006/main" cx="7953375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90d046c62a4816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009A9-6883-4FFC-A6CD-4E2BF378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76B73"/>
                </a:solidFill>
              </a:defRPr>
            </a:defPPr>
            <a:lvl1pPr>
              <a:defRPr sz="4350" b="1">
                <a:solidFill>
                  <a:srgbClr val="176B73"/>
                </a:solidFill>
              </a:defRPr>
            </a:lvl1pPr>
            <a:lvl2pPr>
              <a:defRPr sz="4350" b="1">
                <a:solidFill>
                  <a:srgbClr val="176B73"/>
                </a:solidFill>
              </a:defRPr>
            </a:lvl2pPr>
            <a:lvl3pPr>
              <a:defRPr sz="4350" b="1">
                <a:solidFill>
                  <a:srgbClr val="176B73"/>
                </a:solidFill>
              </a:defRPr>
            </a:lvl3pPr>
            <a:lvl4pPr>
              <a:defRPr sz="4350" b="1">
                <a:solidFill>
                  <a:srgbClr val="176B73"/>
                </a:solidFill>
              </a:defRPr>
            </a:lvl4pPr>
            <a:lvl5pPr>
              <a:defRPr sz="4350" b="1">
                <a:solidFill>
                  <a:srgbClr val="176B73"/>
                </a:solidFill>
              </a:defRPr>
            </a:lvl5pPr>
            <a:lvl6pPr>
              <a:defRPr sz="4350" b="1">
                <a:solidFill>
                  <a:srgbClr val="176B73"/>
                </a:solidFill>
              </a:defRPr>
            </a:lvl6pPr>
            <a:lvl7pPr>
              <a:defRPr sz="4350" b="1">
                <a:solidFill>
                  <a:srgbClr val="176B73"/>
                </a:solidFill>
              </a:defRPr>
            </a:lvl7pPr>
            <a:lvl8pPr>
              <a:defRPr sz="4350" b="1">
                <a:solidFill>
                  <a:srgbClr val="176B73"/>
                </a:solidFill>
              </a:defRPr>
            </a:lvl8pPr>
            <a:lvl9pPr>
              <a:defRPr sz="4350" b="1">
                <a:solidFill>
                  <a:srgbClr val="176B73"/>
                </a:solidFill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176B73"/>
                </a:solidFill>
              </a:defRPr>
            </a:pPr>
            <a:r>
              <a:rPr sz="4350" b="1">
                <a:solidFill>
                  <a:srgbClr val="176B73"/>
                </a:solidFill>
              </a:rPr>
              <a:t>15 p.p.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54DD9-C935-4431-9BB2-11C4E0F3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76625"/>
            <a:ext cx="2619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547"/>
                </a:solidFill>
              </a:defRPr>
            </a:defPPr>
            <a:lvl1pPr>
              <a:defRPr sz="2175" b="0">
                <a:solidFill>
                  <a:srgbClr val="183547"/>
                </a:solidFill>
              </a:defRPr>
            </a:lvl1pPr>
            <a:lvl2pPr>
              <a:defRPr sz="2175" b="0">
                <a:solidFill>
                  <a:srgbClr val="183547"/>
                </a:solidFill>
              </a:defRPr>
            </a:lvl2pPr>
            <a:lvl3pPr>
              <a:defRPr sz="2175" b="0">
                <a:solidFill>
                  <a:srgbClr val="183547"/>
                </a:solidFill>
              </a:defRPr>
            </a:lvl3pPr>
            <a:lvl4pPr>
              <a:defRPr sz="2175" b="0">
                <a:solidFill>
                  <a:srgbClr val="183547"/>
                </a:solidFill>
              </a:defRPr>
            </a:lvl4pPr>
            <a:lvl5pPr>
              <a:defRPr sz="2175" b="0">
                <a:solidFill>
                  <a:srgbClr val="183547"/>
                </a:solidFill>
              </a:defRPr>
            </a:lvl5pPr>
            <a:lvl6pPr>
              <a:defRPr sz="2175" b="0">
                <a:solidFill>
                  <a:srgbClr val="183547"/>
                </a:solidFill>
              </a:defRPr>
            </a:lvl6pPr>
            <a:lvl7pPr>
              <a:defRPr sz="2175" b="0">
                <a:solidFill>
                  <a:srgbClr val="183547"/>
                </a:solidFill>
              </a:defRPr>
            </a:lvl7pPr>
            <a:lvl8pPr>
              <a:defRPr sz="2175" b="0">
                <a:solidFill>
                  <a:srgbClr val="183547"/>
                </a:solidFill>
              </a:defRPr>
            </a:lvl8pPr>
            <a:lvl9pPr>
              <a:defRPr sz="2175" b="0">
                <a:solidFill>
                  <a:srgbClr val="183547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547"/>
                </a:solidFill>
              </a:defRPr>
            </a:pPr>
            <a:r>
              <a:rPr sz="2175" b="0">
                <a:solidFill>
                  <a:srgbClr val="183547"/>
                </a:solidFill>
              </a:rPr>
              <a:t>entre a maior</a:t>
            </a:r>
          </a:p>
          <a:p xmlns:a="http://schemas.openxmlformats.org/drawingml/2006/main">
            <a:pPr>
              <a:defRPr sz="2175" b="0">
                <a:solidFill>
                  <a:srgbClr val="183547"/>
                </a:solidFill>
              </a:defRPr>
            </a:pPr>
            <a:r>
              <a:rPr sz="2175" b="0">
                <a:solidFill>
                  <a:srgbClr val="183547"/>
                </a:solidFill>
              </a:rPr>
              <a:t>e a menor</a:t>
            </a:r>
          </a:p>
          <a:p xmlns:a="http://schemas.openxmlformats.org/drawingml/2006/main">
            <a:pPr>
              <a:defRPr sz="2175" b="0">
                <a:solidFill>
                  <a:srgbClr val="183547"/>
                </a:solidFill>
              </a:defRPr>
            </a:pPr>
            <a:r>
              <a:rPr sz="2175" b="0">
                <a:solidFill>
                  <a:srgbClr val="183547"/>
                </a:solidFill>
              </a:rPr>
              <a:t>participação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55599-A085-43B4-A2AA-33E5EC06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3887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06575"/>
                </a:solidFill>
              </a:defRPr>
            </a:defPPr>
            <a:lvl1pPr>
              <a:defRPr sz="1650" b="0">
                <a:solidFill>
                  <a:srgbClr val="506575"/>
                </a:solidFill>
              </a:defRPr>
            </a:lvl1pPr>
            <a:lvl2pPr>
              <a:defRPr sz="1650" b="0">
                <a:solidFill>
                  <a:srgbClr val="506575"/>
                </a:solidFill>
              </a:defRPr>
            </a:lvl2pPr>
            <a:lvl3pPr>
              <a:defRPr sz="1650" b="0">
                <a:solidFill>
                  <a:srgbClr val="506575"/>
                </a:solidFill>
              </a:defRPr>
            </a:lvl3pPr>
            <a:lvl4pPr>
              <a:defRPr sz="1650" b="0">
                <a:solidFill>
                  <a:srgbClr val="506575"/>
                </a:solidFill>
              </a:defRPr>
            </a:lvl4pPr>
            <a:lvl5pPr>
              <a:defRPr sz="1650" b="0">
                <a:solidFill>
                  <a:srgbClr val="506575"/>
                </a:solidFill>
              </a:defRPr>
            </a:lvl5pPr>
            <a:lvl6pPr>
              <a:defRPr sz="1650" b="0">
                <a:solidFill>
                  <a:srgbClr val="506575"/>
                </a:solidFill>
              </a:defRPr>
            </a:lvl6pPr>
            <a:lvl7pPr>
              <a:defRPr sz="1650" b="0">
                <a:solidFill>
                  <a:srgbClr val="506575"/>
                </a:solidFill>
              </a:defRPr>
            </a:lvl7pPr>
            <a:lvl8pPr>
              <a:defRPr sz="1650" b="0">
                <a:solidFill>
                  <a:srgbClr val="506575"/>
                </a:solidFill>
              </a:defRPr>
            </a:lvl8pPr>
            <a:lvl9pPr>
              <a:defRPr sz="1650" b="0">
                <a:solidFill>
                  <a:srgbClr val="506575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575"/>
                </a:solidFill>
              </a:defRPr>
            </a:pPr>
            <a:r>
              <a:rPr sz="1650" b="0">
                <a:solidFill>
                  <a:srgbClr val="506575"/>
                </a:solidFill>
              </a:rPr>
              <a:t>Fornecedores cadastrados por região (%) · TPC-H SF=0,01 · n = 100</a:t>
            </a:r>
          </a:p>
        </p:txBody>
      </p:sp>
    </p:spTree>
    <p:extLst>
      <p:ext uri="{BB962C8B-B14F-4D97-AF65-F5344CB8AC3E}">
        <p14:creationId xmlns:p14="http://schemas.microsoft.com/office/powerpoint/2010/main" val="14277541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9A156-E845-41C2-96C4-88FD464D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547"/>
                </a:solidFill>
              </a:defRPr>
            </a:defPPr>
            <a:lvl1pPr>
              <a:defRPr sz="3225" b="1">
                <a:solidFill>
                  <a:srgbClr val="183547"/>
                </a:solidFill>
              </a:defRPr>
            </a:lvl1pPr>
            <a:lvl2pPr>
              <a:defRPr sz="3225" b="1">
                <a:solidFill>
                  <a:srgbClr val="183547"/>
                </a:solidFill>
              </a:defRPr>
            </a:lvl2pPr>
            <a:lvl3pPr>
              <a:defRPr sz="3225" b="1">
                <a:solidFill>
                  <a:srgbClr val="183547"/>
                </a:solidFill>
              </a:defRPr>
            </a:lvl3pPr>
            <a:lvl4pPr>
              <a:defRPr sz="3225" b="1">
                <a:solidFill>
                  <a:srgbClr val="183547"/>
                </a:solidFill>
              </a:defRPr>
            </a:lvl4pPr>
            <a:lvl5pPr>
              <a:defRPr sz="3225" b="1">
                <a:solidFill>
                  <a:srgbClr val="183547"/>
                </a:solidFill>
              </a:defRPr>
            </a:lvl5pPr>
            <a:lvl6pPr>
              <a:defRPr sz="3225" b="1">
                <a:solidFill>
                  <a:srgbClr val="183547"/>
                </a:solidFill>
              </a:defRPr>
            </a:lvl6pPr>
            <a:lvl7pPr>
              <a:defRPr sz="3225" b="1">
                <a:solidFill>
                  <a:srgbClr val="183547"/>
                </a:solidFill>
              </a:defRPr>
            </a:lvl7pPr>
            <a:lvl8pPr>
              <a:defRPr sz="3225" b="1">
                <a:solidFill>
                  <a:srgbClr val="183547"/>
                </a:solidFill>
              </a:defRPr>
            </a:lvl8pPr>
            <a:lvl9pPr>
              <a:defRPr sz="3225" b="1">
                <a:solidFill>
                  <a:srgbClr val="183547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547"/>
                </a:solidFill>
              </a:defRPr>
            </a:pPr>
            <a:r>
              <a:rPr sz="3225" b="1">
                <a:solidFill>
                  <a:srgbClr val="183547"/>
                </a:solidFill>
              </a:rPr>
              <a:t>A distribuição por país muda a leitura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A88DA612-4709-47A0-9A98-5386668E71FF}"/>
              </a:ext>
            </a:extLst>
          </p:cNvPr>
          <p:cNvGraphicFramePr/>
          <p:nvPr/>
        </p:nvGraphicFramePr>
        <p:xfrm>
          <a:off xmlns:a="http://schemas.openxmlformats.org/drawingml/2006/main" x="619125" y="1619250"/>
          <a:ext xmlns:a="http://schemas.openxmlformats.org/drawingml/2006/main" cx="790575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0987e91bc449a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7A758-33CB-488C-966E-E642ED95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38375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76B73"/>
                </a:solidFill>
              </a:defRPr>
            </a:defPPr>
            <a:lvl1pPr>
              <a:defRPr sz="4350" b="1">
                <a:solidFill>
                  <a:srgbClr val="176B73"/>
                </a:solidFill>
              </a:defRPr>
            </a:lvl1pPr>
            <a:lvl2pPr>
              <a:defRPr sz="4350" b="1">
                <a:solidFill>
                  <a:srgbClr val="176B73"/>
                </a:solidFill>
              </a:defRPr>
            </a:lvl2pPr>
            <a:lvl3pPr>
              <a:defRPr sz="4350" b="1">
                <a:solidFill>
                  <a:srgbClr val="176B73"/>
                </a:solidFill>
              </a:defRPr>
            </a:lvl3pPr>
            <a:lvl4pPr>
              <a:defRPr sz="4350" b="1">
                <a:solidFill>
                  <a:srgbClr val="176B73"/>
                </a:solidFill>
              </a:defRPr>
            </a:lvl4pPr>
            <a:lvl5pPr>
              <a:defRPr sz="4350" b="1">
                <a:solidFill>
                  <a:srgbClr val="176B73"/>
                </a:solidFill>
              </a:defRPr>
            </a:lvl5pPr>
            <a:lvl6pPr>
              <a:defRPr sz="4350" b="1">
                <a:solidFill>
                  <a:srgbClr val="176B73"/>
                </a:solidFill>
              </a:defRPr>
            </a:lvl6pPr>
            <a:lvl7pPr>
              <a:defRPr sz="4350" b="1">
                <a:solidFill>
                  <a:srgbClr val="176B73"/>
                </a:solidFill>
              </a:defRPr>
            </a:lvl7pPr>
            <a:lvl8pPr>
              <a:defRPr sz="4350" b="1">
                <a:solidFill>
                  <a:srgbClr val="176B73"/>
                </a:solidFill>
              </a:defRPr>
            </a:lvl8pPr>
            <a:lvl9pPr>
              <a:defRPr sz="4350" b="1">
                <a:solidFill>
                  <a:srgbClr val="176B73"/>
                </a:solidFill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176B73"/>
                </a:solidFill>
              </a:defRPr>
            </a:pPr>
            <a:r>
              <a:rPr sz="4350" b="1">
                <a:solidFill>
                  <a:srgbClr val="176B73"/>
                </a:solidFill>
              </a:rPr>
              <a:t>40%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64793-C6E3-4222-BDA0-26E7EDE7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38500"/>
            <a:ext cx="2381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547"/>
                </a:solidFill>
              </a:defRPr>
            </a:defPPr>
            <a:lvl1pPr>
              <a:defRPr sz="2175" b="0">
                <a:solidFill>
                  <a:srgbClr val="183547"/>
                </a:solidFill>
              </a:defRPr>
            </a:lvl1pPr>
            <a:lvl2pPr>
              <a:defRPr sz="2175" b="0">
                <a:solidFill>
                  <a:srgbClr val="183547"/>
                </a:solidFill>
              </a:defRPr>
            </a:lvl2pPr>
            <a:lvl3pPr>
              <a:defRPr sz="2175" b="0">
                <a:solidFill>
                  <a:srgbClr val="183547"/>
                </a:solidFill>
              </a:defRPr>
            </a:lvl3pPr>
            <a:lvl4pPr>
              <a:defRPr sz="2175" b="0">
                <a:solidFill>
                  <a:srgbClr val="183547"/>
                </a:solidFill>
              </a:defRPr>
            </a:lvl4pPr>
            <a:lvl5pPr>
              <a:defRPr sz="2175" b="0">
                <a:solidFill>
                  <a:srgbClr val="183547"/>
                </a:solidFill>
              </a:defRPr>
            </a:lvl5pPr>
            <a:lvl6pPr>
              <a:defRPr sz="2175" b="0">
                <a:solidFill>
                  <a:srgbClr val="183547"/>
                </a:solidFill>
              </a:defRPr>
            </a:lvl6pPr>
            <a:lvl7pPr>
              <a:defRPr sz="2175" b="0">
                <a:solidFill>
                  <a:srgbClr val="183547"/>
                </a:solidFill>
              </a:defRPr>
            </a:lvl7pPr>
            <a:lvl8pPr>
              <a:defRPr sz="2175" b="0">
                <a:solidFill>
                  <a:srgbClr val="183547"/>
                </a:solidFill>
              </a:defRPr>
            </a:lvl8pPr>
            <a:lvl9pPr>
              <a:defRPr sz="2175" b="0">
                <a:solidFill>
                  <a:srgbClr val="183547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547"/>
                </a:solidFill>
              </a:defRPr>
            </a:pPr>
            <a:r>
              <a:rPr sz="2175" b="0">
                <a:solidFill>
                  <a:srgbClr val="183547"/>
                </a:solidFill>
              </a:rPr>
              <a:t>do total nos</a:t>
            </a:r>
          </a:p>
          <a:p xmlns:a="http://schemas.openxmlformats.org/drawingml/2006/main">
            <a:pPr>
              <a:defRPr sz="2175" b="0">
                <a:solidFill>
                  <a:srgbClr val="183547"/>
                </a:solidFill>
              </a:defRPr>
            </a:pPr>
            <a:r>
              <a:rPr sz="2175" b="0">
                <a:solidFill>
                  <a:srgbClr val="183547"/>
                </a:solidFill>
              </a:rPr>
              <a:t>seis países</a:t>
            </a:r>
          </a:p>
          <a:p xmlns:a="http://schemas.openxmlformats.org/drawingml/2006/main">
            <a:pPr>
              <a:defRPr sz="2175" b="0">
                <a:solidFill>
                  <a:srgbClr val="183547"/>
                </a:solidFill>
              </a:defRPr>
            </a:pPr>
            <a:r>
              <a:rPr sz="2175" b="0">
                <a:solidFill>
                  <a:srgbClr val="183547"/>
                </a:solidFill>
              </a:rPr>
              <a:t>mostrados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91851-D17F-4613-9123-96C21886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3887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06575"/>
                </a:solidFill>
              </a:defRPr>
            </a:defPPr>
            <a:lvl1pPr>
              <a:defRPr sz="1650" b="0">
                <a:solidFill>
                  <a:srgbClr val="506575"/>
                </a:solidFill>
              </a:defRPr>
            </a:lvl1pPr>
            <a:lvl2pPr>
              <a:defRPr sz="1650" b="0">
                <a:solidFill>
                  <a:srgbClr val="506575"/>
                </a:solidFill>
              </a:defRPr>
            </a:lvl2pPr>
            <a:lvl3pPr>
              <a:defRPr sz="1650" b="0">
                <a:solidFill>
                  <a:srgbClr val="506575"/>
                </a:solidFill>
              </a:defRPr>
            </a:lvl3pPr>
            <a:lvl4pPr>
              <a:defRPr sz="1650" b="0">
                <a:solidFill>
                  <a:srgbClr val="506575"/>
                </a:solidFill>
              </a:defRPr>
            </a:lvl4pPr>
            <a:lvl5pPr>
              <a:defRPr sz="1650" b="0">
                <a:solidFill>
                  <a:srgbClr val="506575"/>
                </a:solidFill>
              </a:defRPr>
            </a:lvl5pPr>
            <a:lvl6pPr>
              <a:defRPr sz="1650" b="0">
                <a:solidFill>
                  <a:srgbClr val="506575"/>
                </a:solidFill>
              </a:defRPr>
            </a:lvl6pPr>
            <a:lvl7pPr>
              <a:defRPr sz="1650" b="0">
                <a:solidFill>
                  <a:srgbClr val="506575"/>
                </a:solidFill>
              </a:defRPr>
            </a:lvl7pPr>
            <a:lvl8pPr>
              <a:defRPr sz="1650" b="0">
                <a:solidFill>
                  <a:srgbClr val="506575"/>
                </a:solidFill>
              </a:defRPr>
            </a:lvl8pPr>
            <a:lvl9pPr>
              <a:defRPr sz="1650" b="0">
                <a:solidFill>
                  <a:srgbClr val="506575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575"/>
                </a:solidFill>
              </a:defRPr>
            </a:pPr>
            <a:r>
              <a:rPr sz="1650" b="0">
                <a:solidFill>
                  <a:srgbClr val="506575"/>
                </a:solidFill>
              </a:rPr>
              <a:t>Países com pelo menos 6 fornecedores · Contagem de cadastros · n = 100</a:t>
            </a:r>
          </a:p>
        </p:txBody>
      </p:sp>
    </p:spTree>
    <p:extLst>
      <p:ext uri="{BB962C8B-B14F-4D97-AF65-F5344CB8AC3E}">
        <p14:creationId xmlns:p14="http://schemas.microsoft.com/office/powerpoint/2010/main" val="15223627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0200E-DADC-4DBB-BF29-910DAB96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547"/>
                </a:solidFill>
              </a:defRPr>
            </a:defPPr>
            <a:lvl1pPr>
              <a:defRPr sz="3225" b="1">
                <a:solidFill>
                  <a:srgbClr val="183547"/>
                </a:solidFill>
              </a:defRPr>
            </a:lvl1pPr>
            <a:lvl2pPr>
              <a:defRPr sz="3225" b="1">
                <a:solidFill>
                  <a:srgbClr val="183547"/>
                </a:solidFill>
              </a:defRPr>
            </a:lvl2pPr>
            <a:lvl3pPr>
              <a:defRPr sz="3225" b="1">
                <a:solidFill>
                  <a:srgbClr val="183547"/>
                </a:solidFill>
              </a:defRPr>
            </a:lvl3pPr>
            <a:lvl4pPr>
              <a:defRPr sz="3225" b="1">
                <a:solidFill>
                  <a:srgbClr val="183547"/>
                </a:solidFill>
              </a:defRPr>
            </a:lvl4pPr>
            <a:lvl5pPr>
              <a:defRPr sz="3225" b="1">
                <a:solidFill>
                  <a:srgbClr val="183547"/>
                </a:solidFill>
              </a:defRPr>
            </a:lvl5pPr>
            <a:lvl6pPr>
              <a:defRPr sz="3225" b="1">
                <a:solidFill>
                  <a:srgbClr val="183547"/>
                </a:solidFill>
              </a:defRPr>
            </a:lvl6pPr>
            <a:lvl7pPr>
              <a:defRPr sz="3225" b="1">
                <a:solidFill>
                  <a:srgbClr val="183547"/>
                </a:solidFill>
              </a:defRPr>
            </a:lvl7pPr>
            <a:lvl8pPr>
              <a:defRPr sz="3225" b="1">
                <a:solidFill>
                  <a:srgbClr val="183547"/>
                </a:solidFill>
              </a:defRPr>
            </a:lvl8pPr>
            <a:lvl9pPr>
              <a:defRPr sz="3225" b="1">
                <a:solidFill>
                  <a:srgbClr val="183547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547"/>
                </a:solidFill>
              </a:defRPr>
            </a:pPr>
            <a:r>
              <a:rPr sz="3225" b="1">
                <a:solidFill>
                  <a:srgbClr val="183547"/>
                </a:solidFill>
              </a:rPr>
              <a:t>Dashboard no Redash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45857-563B-41C1-A8EE-DBEA8024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83547"/>
                </a:solidFill>
              </a:defRPr>
            </a:defPPr>
            <a:lvl1pPr>
              <a:defRPr sz="2550" b="0">
                <a:solidFill>
                  <a:srgbClr val="183547"/>
                </a:solidFill>
              </a:defRPr>
            </a:lvl1pPr>
            <a:lvl2pPr>
              <a:defRPr sz="2550" b="0">
                <a:solidFill>
                  <a:srgbClr val="183547"/>
                </a:solidFill>
              </a:defRPr>
            </a:lvl2pPr>
            <a:lvl3pPr>
              <a:defRPr sz="2550" b="0">
                <a:solidFill>
                  <a:srgbClr val="183547"/>
                </a:solidFill>
              </a:defRPr>
            </a:lvl3pPr>
            <a:lvl4pPr>
              <a:defRPr sz="2550" b="0">
                <a:solidFill>
                  <a:srgbClr val="183547"/>
                </a:solidFill>
              </a:defRPr>
            </a:lvl4pPr>
            <a:lvl5pPr>
              <a:defRPr sz="2550" b="0">
                <a:solidFill>
                  <a:srgbClr val="183547"/>
                </a:solidFill>
              </a:defRPr>
            </a:lvl5pPr>
            <a:lvl6pPr>
              <a:defRPr sz="2550" b="0">
                <a:solidFill>
                  <a:srgbClr val="183547"/>
                </a:solidFill>
              </a:defRPr>
            </a:lvl6pPr>
            <a:lvl7pPr>
              <a:defRPr sz="2550" b="0">
                <a:solidFill>
                  <a:srgbClr val="183547"/>
                </a:solidFill>
              </a:defRPr>
            </a:lvl7pPr>
            <a:lvl8pPr>
              <a:defRPr sz="2550" b="0">
                <a:solidFill>
                  <a:srgbClr val="183547"/>
                </a:solidFill>
              </a:defRPr>
            </a:lvl8pPr>
            <a:lvl9pPr>
              <a:defRPr sz="2550" b="0">
                <a:solidFill>
                  <a:srgbClr val="183547"/>
                </a:solidFill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83547"/>
                </a:solidFill>
              </a:defRPr>
            </a:pPr>
            <a:r>
              <a:rPr sz="2550" b="0">
                <a:solidFill>
                  <a:srgbClr val="183547"/>
                </a:solidFill>
              </a:rPr>
              <a:t>Gráfico principal</a:t>
            </a:r>
          </a:p>
          <a:p xmlns:a="http://schemas.openxmlformats.org/drawingml/2006/main">
            <a:pPr>
              <a:defRPr sz="2550" b="0">
                <a:solidFill>
                  <a:srgbClr val="183547"/>
                </a:solidFill>
              </a:defRPr>
            </a:pPr>
            <a:r>
              <a:rPr sz="2550" b="0">
                <a:solidFill>
                  <a:srgbClr val="183547"/>
                </a:solidFill>
              </a:rPr>
              <a:t>Participação de fornecedores por região (%)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CB74F-0F81-403C-B6FD-9D6D1613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83547"/>
                </a:solidFill>
              </a:defRPr>
            </a:defPPr>
            <a:lvl1pPr>
              <a:defRPr sz="2550" b="0">
                <a:solidFill>
                  <a:srgbClr val="183547"/>
                </a:solidFill>
              </a:defRPr>
            </a:lvl1pPr>
            <a:lvl2pPr>
              <a:defRPr sz="2550" b="0">
                <a:solidFill>
                  <a:srgbClr val="183547"/>
                </a:solidFill>
              </a:defRPr>
            </a:lvl2pPr>
            <a:lvl3pPr>
              <a:defRPr sz="2550" b="0">
                <a:solidFill>
                  <a:srgbClr val="183547"/>
                </a:solidFill>
              </a:defRPr>
            </a:lvl3pPr>
            <a:lvl4pPr>
              <a:defRPr sz="2550" b="0">
                <a:solidFill>
                  <a:srgbClr val="183547"/>
                </a:solidFill>
              </a:defRPr>
            </a:lvl4pPr>
            <a:lvl5pPr>
              <a:defRPr sz="2550" b="0">
                <a:solidFill>
                  <a:srgbClr val="183547"/>
                </a:solidFill>
              </a:defRPr>
            </a:lvl5pPr>
            <a:lvl6pPr>
              <a:defRPr sz="2550" b="0">
                <a:solidFill>
                  <a:srgbClr val="183547"/>
                </a:solidFill>
              </a:defRPr>
            </a:lvl6pPr>
            <a:lvl7pPr>
              <a:defRPr sz="2550" b="0">
                <a:solidFill>
                  <a:srgbClr val="183547"/>
                </a:solidFill>
              </a:defRPr>
            </a:lvl7pPr>
            <a:lvl8pPr>
              <a:defRPr sz="2550" b="0">
                <a:solidFill>
                  <a:srgbClr val="183547"/>
                </a:solidFill>
              </a:defRPr>
            </a:lvl8pPr>
            <a:lvl9pPr>
              <a:defRPr sz="2550" b="0">
                <a:solidFill>
                  <a:srgbClr val="183547"/>
                </a:solidFill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83547"/>
                </a:solidFill>
              </a:defRPr>
            </a:pPr>
            <a:r>
              <a:rPr sz="2550" b="0">
                <a:solidFill>
                  <a:srgbClr val="183547"/>
                </a:solidFill>
              </a:rPr>
              <a:t>Visualização complementar</a:t>
            </a:r>
          </a:p>
          <a:p xmlns:a="http://schemas.openxmlformats.org/drawingml/2006/main">
            <a:pPr>
              <a:defRPr sz="2550" b="0">
                <a:solidFill>
                  <a:srgbClr val="183547"/>
                </a:solidFill>
              </a:defRPr>
            </a:pPr>
            <a:r>
              <a:rPr sz="2550" b="0">
                <a:solidFill>
                  <a:srgbClr val="183547"/>
                </a:solidFill>
              </a:rPr>
              <a:t>Fornecedores por país, com região e participação (%)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CBEA8-BE3F-4282-BFCF-4B59DDC2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6B73"/>
                </a:solidFill>
              </a:defRPr>
            </a:defPPr>
            <a:lvl1pPr>
              <a:defRPr sz="2175" b="1">
                <a:solidFill>
                  <a:srgbClr val="176B73"/>
                </a:solidFill>
              </a:defRPr>
            </a:lvl1pPr>
            <a:lvl2pPr>
              <a:defRPr sz="2175" b="1">
                <a:solidFill>
                  <a:srgbClr val="176B73"/>
                </a:solidFill>
              </a:defRPr>
            </a:lvl2pPr>
            <a:lvl3pPr>
              <a:defRPr sz="2175" b="1">
                <a:solidFill>
                  <a:srgbClr val="176B73"/>
                </a:solidFill>
              </a:defRPr>
            </a:lvl3pPr>
            <a:lvl4pPr>
              <a:defRPr sz="2175" b="1">
                <a:solidFill>
                  <a:srgbClr val="176B73"/>
                </a:solidFill>
              </a:defRPr>
            </a:lvl4pPr>
            <a:lvl5pPr>
              <a:defRPr sz="2175" b="1">
                <a:solidFill>
                  <a:srgbClr val="176B73"/>
                </a:solidFill>
              </a:defRPr>
            </a:lvl5pPr>
            <a:lvl6pPr>
              <a:defRPr sz="2175" b="1">
                <a:solidFill>
                  <a:srgbClr val="176B73"/>
                </a:solidFill>
              </a:defRPr>
            </a:lvl6pPr>
            <a:lvl7pPr>
              <a:defRPr sz="2175" b="1">
                <a:solidFill>
                  <a:srgbClr val="176B73"/>
                </a:solidFill>
              </a:defRPr>
            </a:lvl7pPr>
            <a:lvl8pPr>
              <a:defRPr sz="2175" b="1">
                <a:solidFill>
                  <a:srgbClr val="176B73"/>
                </a:solidFill>
              </a:defRPr>
            </a:lvl8pPr>
            <a:lvl9pPr>
              <a:defRPr sz="2175" b="1">
                <a:solidFill>
                  <a:srgbClr val="176B73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6B73"/>
                </a:solidFill>
              </a:defRPr>
            </a:pPr>
            <a:r>
              <a:rPr sz="2175" b="1">
                <a:solidFill>
                  <a:srgbClr val="176B73"/>
                </a:solidFill>
              </a:rPr>
              <a:t>Dashboard executado e validado.</a:t>
            </a:r>
          </a:p>
          <a:p xmlns:a="http://schemas.openxmlformats.org/drawingml/2006/main">
            <a:pPr>
              <a:defRPr sz="2175" b="1">
                <a:solidFill>
                  <a:srgbClr val="176B73"/>
                </a:solidFill>
              </a:defRPr>
            </a:pPr>
            <a:r>
              <a:rPr sz="2175" b="1">
                <a:solidFill>
                  <a:srgbClr val="176B73"/>
                </a:solidFill>
              </a:rPr>
              <a:t>Resultados equivalentes ao MySQL e ao MongoDB.</a:t>
            </a:r>
          </a:p>
        </p:txBody>
      </p:sp>
    </p:spTree>
    <p:extLst>
      <p:ext uri="{BB962C8B-B14F-4D97-AF65-F5344CB8AC3E}">
        <p14:creationId xmlns:p14="http://schemas.microsoft.com/office/powerpoint/2010/main" val="3644647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3185B-2C45-485B-BD8D-5185639F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547"/>
                </a:solidFill>
              </a:defRPr>
            </a:defPPr>
            <a:lvl1pPr>
              <a:defRPr sz="3225" b="1">
                <a:solidFill>
                  <a:srgbClr val="183547"/>
                </a:solidFill>
              </a:defRPr>
            </a:lvl1pPr>
            <a:lvl2pPr>
              <a:defRPr sz="3225" b="1">
                <a:solidFill>
                  <a:srgbClr val="183547"/>
                </a:solidFill>
              </a:defRPr>
            </a:lvl2pPr>
            <a:lvl3pPr>
              <a:defRPr sz="3225" b="1">
                <a:solidFill>
                  <a:srgbClr val="183547"/>
                </a:solidFill>
              </a:defRPr>
            </a:lvl3pPr>
            <a:lvl4pPr>
              <a:defRPr sz="3225" b="1">
                <a:solidFill>
                  <a:srgbClr val="183547"/>
                </a:solidFill>
              </a:defRPr>
            </a:lvl4pPr>
            <a:lvl5pPr>
              <a:defRPr sz="3225" b="1">
                <a:solidFill>
                  <a:srgbClr val="183547"/>
                </a:solidFill>
              </a:defRPr>
            </a:lvl5pPr>
            <a:lvl6pPr>
              <a:defRPr sz="3225" b="1">
                <a:solidFill>
                  <a:srgbClr val="183547"/>
                </a:solidFill>
              </a:defRPr>
            </a:lvl6pPr>
            <a:lvl7pPr>
              <a:defRPr sz="3225" b="1">
                <a:solidFill>
                  <a:srgbClr val="183547"/>
                </a:solidFill>
              </a:defRPr>
            </a:lvl7pPr>
            <a:lvl8pPr>
              <a:defRPr sz="3225" b="1">
                <a:solidFill>
                  <a:srgbClr val="183547"/>
                </a:solidFill>
              </a:defRPr>
            </a:lvl8pPr>
            <a:lvl9pPr>
              <a:defRPr sz="3225" b="1">
                <a:solidFill>
                  <a:srgbClr val="183547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547"/>
                </a:solidFill>
              </a:defRPr>
            </a:pPr>
            <a:r>
              <a:rPr sz="3225" b="1">
                <a:solidFill>
                  <a:srgbClr val="183547"/>
                </a:solidFill>
              </a:rPr>
              <a:t>Decisões apoiadas pelos resultados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1A7C8-6916-4C89-BA0E-FCF78E62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83547"/>
                </a:solidFill>
              </a:defRPr>
            </a:defPPr>
            <a:lvl1pPr>
              <a:defRPr sz="2400" b="0">
                <a:solidFill>
                  <a:srgbClr val="183547"/>
                </a:solidFill>
              </a:defRPr>
            </a:lvl1pPr>
            <a:lvl2pPr>
              <a:defRPr sz="2400" b="0">
                <a:solidFill>
                  <a:srgbClr val="183547"/>
                </a:solidFill>
              </a:defRPr>
            </a:lvl2pPr>
            <a:lvl3pPr>
              <a:defRPr sz="2400" b="0">
                <a:solidFill>
                  <a:srgbClr val="183547"/>
                </a:solidFill>
              </a:defRPr>
            </a:lvl3pPr>
            <a:lvl4pPr>
              <a:defRPr sz="2400" b="0">
                <a:solidFill>
                  <a:srgbClr val="183547"/>
                </a:solidFill>
              </a:defRPr>
            </a:lvl4pPr>
            <a:lvl5pPr>
              <a:defRPr sz="2400" b="0">
                <a:solidFill>
                  <a:srgbClr val="183547"/>
                </a:solidFill>
              </a:defRPr>
            </a:lvl5pPr>
            <a:lvl6pPr>
              <a:defRPr sz="2400" b="0">
                <a:solidFill>
                  <a:srgbClr val="183547"/>
                </a:solidFill>
              </a:defRPr>
            </a:lvl6pPr>
            <a:lvl7pPr>
              <a:defRPr sz="2400" b="0">
                <a:solidFill>
                  <a:srgbClr val="183547"/>
                </a:solidFill>
              </a:defRPr>
            </a:lvl7pPr>
            <a:lvl8pPr>
              <a:defRPr sz="2400" b="0">
                <a:solidFill>
                  <a:srgbClr val="183547"/>
                </a:solidFill>
              </a:defRPr>
            </a:lvl8pPr>
            <a:lvl9pPr>
              <a:defRPr sz="2400" b="0">
                <a:solidFill>
                  <a:srgbClr val="183547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83547"/>
                </a:solidFill>
              </a:defRPr>
            </a:pPr>
            <a:r>
              <a:rPr sz="2400" b="0">
                <a:solidFill>
                  <a:srgbClr val="183547"/>
                </a:solidFill>
              </a:rPr>
              <a:t>12% no Oriente Médio</a:t>
            </a:r>
          </a:p>
          <a:p xmlns:a="http://schemas.openxmlformats.org/drawingml/2006/main">
            <a:pPr>
              <a:defRPr sz="2400" b="0">
                <a:solidFill>
                  <a:srgbClr val="183547"/>
                </a:solidFill>
              </a:defRPr>
            </a:pPr>
            <a:r>
              <a:rPr sz="2400" b="0">
                <a:solidFill>
                  <a:srgbClr val="183547"/>
                </a:solidFill>
              </a:rPr>
              <a:t>Investigar alternativas diante da demanda de suprimentos.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F8F63-70E3-4F48-AD82-D7C94983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83547"/>
                </a:solidFill>
              </a:defRPr>
            </a:defPPr>
            <a:lvl1pPr>
              <a:defRPr sz="2400" b="0">
                <a:solidFill>
                  <a:srgbClr val="183547"/>
                </a:solidFill>
              </a:defRPr>
            </a:lvl1pPr>
            <a:lvl2pPr>
              <a:defRPr sz="2400" b="0">
                <a:solidFill>
                  <a:srgbClr val="183547"/>
                </a:solidFill>
              </a:defRPr>
            </a:lvl2pPr>
            <a:lvl3pPr>
              <a:defRPr sz="2400" b="0">
                <a:solidFill>
                  <a:srgbClr val="183547"/>
                </a:solidFill>
              </a:defRPr>
            </a:lvl3pPr>
            <a:lvl4pPr>
              <a:defRPr sz="2400" b="0">
                <a:solidFill>
                  <a:srgbClr val="183547"/>
                </a:solidFill>
              </a:defRPr>
            </a:lvl4pPr>
            <a:lvl5pPr>
              <a:defRPr sz="2400" b="0">
                <a:solidFill>
                  <a:srgbClr val="183547"/>
                </a:solidFill>
              </a:defRPr>
            </a:lvl5pPr>
            <a:lvl6pPr>
              <a:defRPr sz="2400" b="0">
                <a:solidFill>
                  <a:srgbClr val="183547"/>
                </a:solidFill>
              </a:defRPr>
            </a:lvl6pPr>
            <a:lvl7pPr>
              <a:defRPr sz="2400" b="0">
                <a:solidFill>
                  <a:srgbClr val="183547"/>
                </a:solidFill>
              </a:defRPr>
            </a:lvl7pPr>
            <a:lvl8pPr>
              <a:defRPr sz="2400" b="0">
                <a:solidFill>
                  <a:srgbClr val="183547"/>
                </a:solidFill>
              </a:defRPr>
            </a:lvl8pPr>
            <a:lvl9pPr>
              <a:defRPr sz="2400" b="0">
                <a:solidFill>
                  <a:srgbClr val="183547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83547"/>
                </a:solidFill>
              </a:defRPr>
            </a:pPr>
            <a:r>
              <a:rPr sz="2400" b="0">
                <a:solidFill>
                  <a:srgbClr val="183547"/>
                </a:solidFill>
              </a:rPr>
              <a:t>40% da América nos EUA e 50% do Oriente Médio no Egito</a:t>
            </a:r>
          </a:p>
          <a:p xmlns:a="http://schemas.openxmlformats.org/drawingml/2006/main">
            <a:pPr>
              <a:defRPr sz="2400" b="0">
                <a:solidFill>
                  <a:srgbClr val="183547"/>
                </a:solidFill>
              </a:defRPr>
            </a:pPr>
            <a:r>
              <a:rPr sz="2400" b="0">
                <a:solidFill>
                  <a:srgbClr val="183547"/>
                </a:solidFill>
              </a:rPr>
              <a:t>Detalhar a cobertura dentro de cada região.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91E25-0CA0-4F1F-9488-20A3A81A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6B73"/>
                </a:solidFill>
              </a:defRPr>
            </a:defPPr>
            <a:lvl1pPr>
              <a:defRPr sz="2250" b="1">
                <a:solidFill>
                  <a:srgbClr val="176B73"/>
                </a:solidFill>
              </a:defRPr>
            </a:lvl1pPr>
            <a:lvl2pPr>
              <a:defRPr sz="2250" b="1">
                <a:solidFill>
                  <a:srgbClr val="176B73"/>
                </a:solidFill>
              </a:defRPr>
            </a:lvl2pPr>
            <a:lvl3pPr>
              <a:defRPr sz="2250" b="1">
                <a:solidFill>
                  <a:srgbClr val="176B73"/>
                </a:solidFill>
              </a:defRPr>
            </a:lvl3pPr>
            <a:lvl4pPr>
              <a:defRPr sz="2250" b="1">
                <a:solidFill>
                  <a:srgbClr val="176B73"/>
                </a:solidFill>
              </a:defRPr>
            </a:lvl4pPr>
            <a:lvl5pPr>
              <a:defRPr sz="2250" b="1">
                <a:solidFill>
                  <a:srgbClr val="176B73"/>
                </a:solidFill>
              </a:defRPr>
            </a:lvl5pPr>
            <a:lvl6pPr>
              <a:defRPr sz="2250" b="1">
                <a:solidFill>
                  <a:srgbClr val="176B73"/>
                </a:solidFill>
              </a:defRPr>
            </a:lvl6pPr>
            <a:lvl7pPr>
              <a:defRPr sz="2250" b="1">
                <a:solidFill>
                  <a:srgbClr val="176B73"/>
                </a:solidFill>
              </a:defRPr>
            </a:lvl7pPr>
            <a:lvl8pPr>
              <a:defRPr sz="2250" b="1">
                <a:solidFill>
                  <a:srgbClr val="176B73"/>
                </a:solidFill>
              </a:defRPr>
            </a:lvl8pPr>
            <a:lvl9pPr>
              <a:defRPr sz="2250" b="1">
                <a:solidFill>
                  <a:srgbClr val="176B73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6B73"/>
                </a:solidFill>
              </a:defRPr>
            </a:pPr>
            <a:r>
              <a:rPr sz="2250" b="1">
                <a:solidFill>
                  <a:srgbClr val="176B73"/>
                </a:solidFill>
              </a:rPr>
              <a:t>Custos, peças e prazos completam a decisão de compra.</a:t>
            </a:r>
          </a:p>
          <a:p xmlns:a="http://schemas.openxmlformats.org/drawingml/2006/main">
            <a:pPr>
              <a:defRPr sz="2250" b="1">
                <a:solidFill>
                  <a:srgbClr val="176B73"/>
                </a:solidFill>
              </a:defRPr>
            </a:pPr>
            <a:r>
              <a:rPr sz="2250" b="1">
                <a:solidFill>
                  <a:srgbClr val="176B73"/>
                </a:solidFill>
              </a:rPr>
              <a:t>O cadastro indica onde aprofundar a investigação.</a:t>
            </a:r>
          </a:p>
        </p:txBody>
      </p:sp>
    </p:spTree>
    <p:extLst>
      <p:ext uri="{BB962C8B-B14F-4D97-AF65-F5344CB8AC3E}">
        <p14:creationId xmlns:p14="http://schemas.microsoft.com/office/powerpoint/2010/main" val="2110187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2026-10-29T15:38:35.0530000Z</dcterms:created>
  <dcterms:modified xsi:type="dcterms:W3CDTF">2026-10-29T15:38:35.0530000Z</dcterms:modified>
</coreProperties>
</file>